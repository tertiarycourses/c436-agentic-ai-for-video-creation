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Video Creation</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C436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29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ON THE C436 COURSE PAGE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Surendra Batukdeo</a:t>
            </a:r>
          </a:p>
          <a:p>
            <a:pPr algn="l">
              <a:spcAft>
                <a:spcPts val="300"/>
              </a:spcAft>
            </a:pPr>
            <a:r>
              <a:rPr sz="1300" b="0">
                <a:solidFill>
                  <a:srgbClr val="5B6372"/>
                </a:solidFill>
                <a:latin typeface="Arial"/>
              </a:rPr>
              <a:t>Emerging-technology, automation, data-intelligence, project, and technical-training experience.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Agus Salim</a:t>
            </a:r>
          </a:p>
          <a:p>
            <a:pPr algn="l">
              <a:spcAft>
                <a:spcPts val="300"/>
              </a:spcAft>
            </a:pPr>
            <a:r>
              <a:rPr sz="1300" b="0">
                <a:solidFill>
                  <a:srgbClr val="5B6372"/>
                </a:solidFill>
                <a:latin typeface="Arial"/>
              </a:rPr>
              <a:t>IT solutions, systems integration, cloud infrastructure, project, and cybersecurity experience.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Quah Chee Yong</a:t>
            </a:r>
          </a:p>
          <a:p>
            <a:pPr algn="l">
              <a:spcAft>
                <a:spcPts val="300"/>
              </a:spcAft>
            </a:pPr>
            <a:r>
              <a:rPr sz="1300" b="0">
                <a:solidFill>
                  <a:srgbClr val="5B6372"/>
                </a:solidFill>
                <a:latin typeface="Arial"/>
              </a:rPr>
              <a:t>Data science, Python, natural-language processing, machine-learning, and AI-training experience.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Introduce yourself and name one short-form video workflow you would like to improve.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Identify the stage that consumes the most time or creates the most rework.</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State one video action you would never allow an agent to take without your approval.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C436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8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https://www.tertiarycourses.com.sg/agentic-ai-for-video-creation.html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15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Design the agent and generate an approved production pack</a:t>
            </a:r>
          </a:p>
          <a:p>
            <a:pPr>
              <a:spcAft>
                <a:spcPts val="1000"/>
              </a:spcAft>
            </a:pPr>
            <a:r>
              <a:rPr sz="1400" b="0">
                <a:solidFill>
                  <a:srgbClr val="5B6372"/>
                </a:solidFill>
                <a:latin typeface="Arial"/>
              </a:rPr>
              <a:t>–  Topic 1: Getting Started with Agentic AI for Video (Labs 1–2)</a:t>
            </a:r>
          </a:p>
          <a:p>
            <a:pPr>
              <a:spcAft>
                <a:spcPts val="1000"/>
              </a:spcAft>
            </a:pPr>
            <a:r>
              <a:rPr sz="1400" b="0">
                <a:solidFill>
                  <a:srgbClr val="5B6372"/>
                </a:solidFill>
                <a:latin typeface="Arial"/>
              </a:rPr>
              <a:t>–  Topic 2: Scripting and Generating Content with AI (Labs 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Assemble, review, orchestrate, and plan responsible scale</a:t>
            </a:r>
          </a:p>
          <a:p>
            <a:pPr>
              <a:spcAft>
                <a:spcPts val="1000"/>
              </a:spcAft>
            </a:pPr>
            <a:r>
              <a:rPr sz="1400" b="0">
                <a:solidFill>
                  <a:srgbClr val="5B6372"/>
                </a:solidFill>
                <a:latin typeface="Arial"/>
              </a:rPr>
              <a:t>–  Topic 3: Editing and Assembling Videos with AI (Labs 5–6)</a:t>
            </a:r>
          </a:p>
          <a:p>
            <a:pPr>
              <a:spcAft>
                <a:spcPts val="1000"/>
              </a:spcAft>
            </a:pPr>
            <a:r>
              <a:rPr sz="1400" b="0">
                <a:solidFill>
                  <a:srgbClr val="5B6372"/>
                </a:solidFill>
                <a:latin typeface="Arial"/>
              </a:rPr>
              <a:t>–  Topic 4: Automating and Scaling Video Production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the Agent</a:t>
            </a:r>
          </a:p>
          <a:p>
            <a:pPr algn="l">
              <a:spcAft>
                <a:spcPts val="300"/>
              </a:spcAft>
            </a:pPr>
            <a:r>
              <a:rPr sz="1300" b="0">
                <a:solidFill>
                  <a:srgbClr val="5B6372"/>
                </a:solidFill>
                <a:latin typeface="Arial"/>
              </a:rPr>
              <a:t>Explain agentic AI, select suitable video-production tools, write bounded prompts, and design a controlled end-to-end workflow.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Generate the Assets</a:t>
            </a:r>
          </a:p>
          <a:p>
            <a:pPr algn="l">
              <a:spcAft>
                <a:spcPts val="300"/>
              </a:spcAft>
            </a:pPr>
            <a:r>
              <a:rPr sz="1300" b="0">
                <a:solidFill>
                  <a:srgbClr val="5B6372"/>
                </a:solidFill>
                <a:latin typeface="Arial"/>
              </a:rPr>
              <a:t>Build AI-assisted research, scripting, storyboard, visual, voiceover, and music hand-offs from an approved creative brief.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Edit and Review</a:t>
            </a:r>
          </a:p>
          <a:p>
            <a:pPr algn="l">
              <a:spcAft>
                <a:spcPts val="300"/>
              </a:spcAft>
            </a:pPr>
            <a:r>
              <a:rPr sz="1300" b="0">
                <a:solidFill>
                  <a:srgbClr val="5B6372"/>
                </a:solidFill>
                <a:latin typeface="Arial"/>
              </a:rPr>
              <a:t>Assemble and refine a short-form video through automated editing, captioning, branding, and evidence-based quality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Publish and Scale</a:t>
            </a:r>
          </a:p>
          <a:p>
            <a:pPr algn="l">
              <a:spcAft>
                <a:spcPts val="300"/>
              </a:spcAft>
            </a:pPr>
            <a:r>
              <a:rPr sz="1300" b="0">
                <a:solidFill>
                  <a:srgbClr val="5B6372"/>
                </a:solidFill>
                <a:latin typeface="Arial"/>
              </a:rPr>
              <a:t>Orchestrate multi-step video agents with human approval, prepare safe publishing actions, analyse performance, and plan responsible scale.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Video Production Foundations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Makes a Workflow Agentic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Goal and state</a:t>
            </a:r>
          </a:p>
          <a:p>
            <a:pPr algn="l">
              <a:spcAft>
                <a:spcPts val="300"/>
              </a:spcAft>
            </a:pPr>
            <a:r>
              <a:rPr sz="1300" b="0">
                <a:solidFill>
                  <a:srgbClr val="5B6372"/>
                </a:solidFill>
                <a:latin typeface="Arial"/>
              </a:rPr>
              <a:t>The system knows the desired outcome, accepted artifacts, current stage, and unresolved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Reasoning and routing</a:t>
            </a:r>
          </a:p>
          <a:p>
            <a:pPr algn="l">
              <a:spcAft>
                <a:spcPts val="300"/>
              </a:spcAft>
            </a:pPr>
            <a:r>
              <a:rPr sz="1300" b="0">
                <a:solidFill>
                  <a:srgbClr val="5B6372"/>
                </a:solidFill>
                <a:latin typeface="Arial"/>
              </a:rPr>
              <a:t>A model chooses among bounded next actions while deterministic rules enforce known constraints.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Tools and contracts</a:t>
            </a:r>
          </a:p>
          <a:p>
            <a:pPr algn="l">
              <a:spcAft>
                <a:spcPts val="300"/>
              </a:spcAft>
            </a:pPr>
            <a:r>
              <a:rPr sz="1300" b="0">
                <a:solidFill>
                  <a:srgbClr val="5B6372"/>
                </a:solidFill>
                <a:latin typeface="Arial"/>
              </a:rPr>
              <a:t>Every capability has typed inputs, portable outputs, permissions, budgets, and failure behavior.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 and control</a:t>
            </a:r>
          </a:p>
          <a:p>
            <a:pPr algn="l">
              <a:spcAft>
                <a:spcPts val="300"/>
              </a:spcAft>
            </a:pPr>
            <a:r>
              <a:rPr sz="1300" b="0">
                <a:solidFill>
                  <a:srgbClr val="5B6372"/>
                </a:solidFill>
                <a:latin typeface="Arial"/>
              </a:rPr>
              <a:t>Logs, provenance, validators, approvals, and stop conditions keep the work reviewable.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C436 Agent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Observe</a:t>
            </a:r>
          </a:p>
          <a:p>
            <a:pPr algn="l">
              <a:spcAft>
                <a:spcPts val="300"/>
              </a:spcAft>
            </a:pPr>
            <a:r>
              <a:rPr sz="1200" b="0">
                <a:solidFill>
                  <a:srgbClr val="5B6372"/>
                </a:solidFill>
                <a:latin typeface="Arial"/>
              </a:rPr>
              <a:t>Read the approved brief, state, manifest, and current evidence.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Plan</a:t>
            </a:r>
          </a:p>
          <a:p>
            <a:pPr algn="l">
              <a:spcAft>
                <a:spcPts val="300"/>
              </a:spcAft>
            </a:pPr>
            <a:r>
              <a:rPr sz="1200" b="0">
                <a:solidFill>
                  <a:srgbClr val="5B6372"/>
                </a:solidFill>
                <a:latin typeface="Arial"/>
              </a:rPr>
              <a:t>Choose the next smallest action that advances a completion condition.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Act</a:t>
            </a:r>
          </a:p>
          <a:p>
            <a:pPr algn="l">
              <a:spcAft>
                <a:spcPts val="300"/>
              </a:spcAft>
            </a:pPr>
            <a:r>
              <a:rPr sz="1200" b="0">
                <a:solidFill>
                  <a:srgbClr val="5B6372"/>
                </a:solidFill>
                <a:latin typeface="Arial"/>
              </a:rPr>
              <a:t>Call one allowed tool with structured inputs and bounded retries.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Inspect</a:t>
            </a:r>
          </a:p>
          <a:p>
            <a:pPr algn="l">
              <a:spcAft>
                <a:spcPts val="300"/>
              </a:spcAft>
            </a:pPr>
            <a:r>
              <a:rPr sz="1200" b="0">
                <a:solidFill>
                  <a:srgbClr val="5B6372"/>
                </a:solidFill>
                <a:latin typeface="Arial"/>
              </a:rPr>
              <a:t>Validate the artifact, provenance, cost, and quality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Decide</a:t>
            </a:r>
          </a:p>
          <a:p>
            <a:pPr algn="l">
              <a:spcAft>
                <a:spcPts val="300"/>
              </a:spcAft>
            </a:pPr>
            <a:r>
              <a:rPr sz="1200" b="0">
                <a:solidFill>
                  <a:srgbClr val="5B6372"/>
                </a:solidFill>
                <a:latin typeface="Arial"/>
              </a:rPr>
              <a:t>Accept, revise, retry within limits, or escalate to a named owner.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Record</a:t>
            </a:r>
          </a:p>
          <a:p>
            <a:pPr algn="l">
              <a:spcAft>
                <a:spcPts val="300"/>
              </a:spcAft>
            </a:pPr>
            <a:r>
              <a:rPr sz="1200" b="0">
                <a:solidFill>
                  <a:srgbClr val="5B6372"/>
                </a:solidFill>
                <a:latin typeface="Arial"/>
              </a:rPr>
              <a:t>Persist the new state and an auditable event before continuing.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CORE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Autonomy is a design variable, not the goal.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deterministic automation for known operations, model judgment for bounded choices, and human approval for consequential actions.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Connected Harbour Bean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Design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Production contract</a:t>
            </a:r>
          </a:p>
          <a:p>
            <a:pPr>
              <a:spcAft>
                <a:spcPts val="900"/>
              </a:spcAft>
            </a:pPr>
            <a:r>
              <a:rPr sz="1400" b="0">
                <a:solidFill>
                  <a:srgbClr val="161B26"/>
                </a:solidFill>
                <a:latin typeface="Arial"/>
              </a:rPr>
              <a:t>•  Autonomy matrix</a:t>
            </a:r>
          </a:p>
          <a:p>
            <a:pPr>
              <a:spcAft>
                <a:spcPts val="900"/>
              </a:spcAft>
            </a:pPr>
            <a:r>
              <a:rPr sz="1400" b="0">
                <a:solidFill>
                  <a:srgbClr val="161B26"/>
                </a:solidFill>
                <a:latin typeface="Arial"/>
              </a:rPr>
              <a:t>•  Workflow map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Create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Research register</a:t>
            </a:r>
          </a:p>
          <a:p>
            <a:pPr>
              <a:spcAft>
                <a:spcPts val="900"/>
              </a:spcAft>
            </a:pPr>
            <a:r>
              <a:rPr sz="1400" b="0">
                <a:solidFill>
                  <a:srgbClr val="161B26"/>
                </a:solidFill>
                <a:latin typeface="Arial"/>
              </a:rPr>
              <a:t>•  Timed script</a:t>
            </a:r>
          </a:p>
          <a:p>
            <a:pPr>
              <a:spcAft>
                <a:spcPts val="900"/>
              </a:spcAft>
            </a:pPr>
            <a:r>
              <a:rPr sz="1400" b="0">
                <a:solidFill>
                  <a:srgbClr val="161B26"/>
                </a:solidFill>
                <a:latin typeface="Arial"/>
              </a:rPr>
              <a:t>•  Asset manifest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Assemble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Edit decision list</a:t>
            </a:r>
          </a:p>
          <a:p>
            <a:pPr>
              <a:spcAft>
                <a:spcPts val="900"/>
              </a:spcAft>
            </a:pPr>
            <a:r>
              <a:rPr sz="1400" b="0">
                <a:solidFill>
                  <a:srgbClr val="161B26"/>
                </a:solidFill>
                <a:latin typeface="Arial"/>
              </a:rPr>
              <a:t>•  Captions</a:t>
            </a:r>
          </a:p>
          <a:p>
            <a:pPr>
              <a:spcAft>
                <a:spcPts val="900"/>
              </a:spcAft>
            </a:pPr>
            <a:r>
              <a:rPr sz="1400" b="0">
                <a:solidFill>
                  <a:srgbClr val="161B26"/>
                </a:solidFill>
                <a:latin typeface="Arial"/>
              </a:rPr>
              <a:t>•  Vertical draft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Start from an approved checkpoint and a named output contract.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Execute bounded steps using supplied synthetic data and placeholder secrets.</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an observable 'Test It' check and record evidence.</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Save the checkpoint so the next lab can continue without regeneration.</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Reflect on which choices should remain deterministic, model-led, or human-approved.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CONTROL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Autonomy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Deterministic</a:t>
            </a:r>
          </a:p>
          <a:p>
            <a:pPr algn="l">
              <a:spcAft>
                <a:spcPts val="300"/>
              </a:spcAft>
            </a:pPr>
            <a:r>
              <a:rPr sz="1200" b="0">
                <a:solidFill>
                  <a:srgbClr val="5B6372"/>
                </a:solidFill>
                <a:latin typeface="Arial"/>
              </a:rPr>
              <a:t>Validation, naming, file movement, media probing, arithmetic, and schema checks.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Model-assisted</a:t>
            </a:r>
          </a:p>
          <a:p>
            <a:pPr algn="l">
              <a:spcAft>
                <a:spcPts val="300"/>
              </a:spcAft>
            </a:pPr>
            <a:r>
              <a:rPr sz="1200" b="0">
                <a:solidFill>
                  <a:srgbClr val="5B6372"/>
                </a:solidFill>
                <a:latin typeface="Arial"/>
              </a:rPr>
              <a:t>Idea clustering, script alternatives, shot suggestions, and evidence-linked issue drafts.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Human-approved</a:t>
            </a:r>
          </a:p>
          <a:p>
            <a:pPr algn="l">
              <a:spcAft>
                <a:spcPts val="300"/>
              </a:spcAft>
            </a:pPr>
            <a:r>
              <a:rPr sz="1200" b="0">
                <a:solidFill>
                  <a:srgbClr val="5B6372"/>
                </a:solidFill>
                <a:latin typeface="Arial"/>
              </a:rPr>
              <a:t>Claims, rights, likeness, brand exceptions, final edit, and release actions.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Prohibited by default</a:t>
            </a:r>
          </a:p>
          <a:p>
            <a:pPr algn="l">
              <a:spcAft>
                <a:spcPts val="300"/>
              </a:spcAft>
            </a:pPr>
            <a:r>
              <a:rPr sz="1200" b="0">
                <a:solidFill>
                  <a:srgbClr val="5B6372"/>
                </a:solidFill>
                <a:latin typeface="Arial"/>
              </a:rPr>
              <a:t>Unreviewed public posts, secret exposure, identity imitation, and unsupported claims.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STRUCTURED INPUT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Production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Audience, channel, message, desired viewer action, and success decision.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Approved facts, source register, unknowns, and permitted inference.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Creative constraints</a:t>
            </a:r>
          </a:p>
          <a:p>
            <a:pPr algn="l">
              <a:spcAft>
                <a:spcPts val="300"/>
              </a:spcAft>
            </a:pPr>
            <a:r>
              <a:rPr sz="1200" b="0">
                <a:solidFill>
                  <a:srgbClr val="5B6372"/>
                </a:solidFill>
                <a:latin typeface="Arial"/>
              </a:rPr>
              <a:t>Duration, aspect ratio, tone, brand, continuity, and prohibited content.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Operational limits</a:t>
            </a:r>
          </a:p>
          <a:p>
            <a:pPr algn="l">
              <a:spcAft>
                <a:spcPts val="300"/>
              </a:spcAft>
            </a:pPr>
            <a:r>
              <a:rPr sz="1200" b="0">
                <a:solidFill>
                  <a:srgbClr val="5B6372"/>
                </a:solidFill>
                <a:latin typeface="Arial"/>
              </a:rPr>
              <a:t>Tools, permissions, budgets, retries, owner, and finish condition.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OBSERVABILITY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Run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Identity</a:t>
            </a:r>
          </a:p>
          <a:p>
            <a:pPr algn="l">
              <a:spcAft>
                <a:spcPts val="300"/>
              </a:spcAft>
            </a:pPr>
            <a:r>
              <a:rPr sz="1200" b="0">
                <a:solidFill>
                  <a:srgbClr val="5B6372"/>
                </a:solidFill>
                <a:latin typeface="Arial"/>
              </a:rPr>
              <a:t>Run ID, job ID, artifact version, prompt version, and manifest checksum.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Actions</a:t>
            </a:r>
          </a:p>
          <a:p>
            <a:pPr algn="l">
              <a:spcAft>
                <a:spcPts val="300"/>
              </a:spcAft>
            </a:pPr>
            <a:r>
              <a:rPr sz="1200" b="0">
                <a:solidFill>
                  <a:srgbClr val="5B6372"/>
                </a:solidFill>
                <a:latin typeface="Arial"/>
              </a:rPr>
              <a:t>Tool name, input reference, output reference, time, status, and error.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Controls</a:t>
            </a:r>
          </a:p>
          <a:p>
            <a:pPr algn="l">
              <a:spcAft>
                <a:spcPts val="300"/>
              </a:spcAft>
            </a:pPr>
            <a:r>
              <a:rPr sz="1200" b="0">
                <a:solidFill>
                  <a:srgbClr val="5B6372"/>
                </a:solidFill>
                <a:latin typeface="Arial"/>
              </a:rPr>
              <a:t>Validation result, issue ID, approval scope, and decision owner.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Resources</a:t>
            </a:r>
          </a:p>
          <a:p>
            <a:pPr algn="l">
              <a:spcAft>
                <a:spcPts val="300"/>
              </a:spcAft>
            </a:pPr>
            <a:r>
              <a:rPr sz="1200" b="0">
                <a:solidFill>
                  <a:srgbClr val="5B6372"/>
                </a:solidFill>
                <a:latin typeface="Arial"/>
              </a:rPr>
              <a:t>Latency, generation count, cost estimate, and retry count.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Agentic AI for Video</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AI foundations | Video, voice, and agent tools | Effective prompts | End-to-end workflow design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Day 1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Getting Started with Agentic AI for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Agent loop</a:t>
            </a:r>
          </a:p>
          <a:p>
            <a:pPr algn="l">
              <a:spcAft>
                <a:spcPts val="300"/>
              </a:spcAft>
            </a:pPr>
            <a:r>
              <a:rPr sz="1200" b="0">
                <a:solidFill>
                  <a:srgbClr val="5B6372"/>
                </a:solidFill>
                <a:latin typeface="Arial"/>
              </a:rPr>
              <a:t>A bounded cycle of observe, plan, act with tools, inspect evidence, and stop or escalate.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Production contract</a:t>
            </a:r>
          </a:p>
          <a:p>
            <a:pPr algn="l">
              <a:spcAft>
                <a:spcPts val="300"/>
              </a:spcAft>
            </a:pPr>
            <a:r>
              <a:rPr sz="1200" b="0">
                <a:solidFill>
                  <a:srgbClr val="5B6372"/>
                </a:solidFill>
                <a:latin typeface="Arial"/>
              </a:rPr>
              <a:t>A structured brief that fixes the audience, goal, source facts, constraints, deliverables, and approval gates.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Tool boundary</a:t>
            </a:r>
          </a:p>
          <a:p>
            <a:pPr algn="l">
              <a:spcAft>
                <a:spcPts val="300"/>
              </a:spcAft>
            </a:pPr>
            <a:r>
              <a:rPr sz="1200" b="0">
                <a:solidFill>
                  <a:srgbClr val="5B6372"/>
                </a:solidFill>
                <a:latin typeface="Arial"/>
              </a:rPr>
              <a:t>A named capability with explicit inputs, outputs, permissions, cost limits, and failure behavior.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 control</a:t>
            </a:r>
          </a:p>
          <a:p>
            <a:pPr algn="l">
              <a:spcAft>
                <a:spcPts val="300"/>
              </a:spcAft>
            </a:pPr>
            <a:r>
              <a:rPr sz="1200" b="0">
                <a:solidFill>
                  <a:srgbClr val="5B6372"/>
                </a:solidFill>
                <a:latin typeface="Arial"/>
              </a:rPr>
              <a:t>People approve high-impact creative, rights, privacy, brand, and publishing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Introduction to Agentic AI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Agentic AI combines a model with instructions, tools, state, and a control loop so that the system can decide which bounded action to take next. In video production, an agent may inspect a brief, request missing facts, call research or generation tools, record outputs, check quality, and route an item for human approval. It is different from a one-shot chatbot because the workflow carries state and can take several tool-mediated steps toward a defined completion condition.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Video work contains creative uncertainty as well as operational dependencies. A reliable agent must know what it may decide, what evidence it must retain, and when it must stop. Treating every step as autonomous creates rights, privacy, cost, and brand risk; treating every step as fixed automation misses the value of reasoning. The practical design is bounded autonomy: deterministic rules for known operations, model judgment for well-framed choices, and human review for consequential actions.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Introduction to Agentic AI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Observe the approved brief and current production state.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the next smallest useful action against a completion checklist.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Call only an allowed tool with structured inputs and a budget.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Inspect the returned artifact, provenance, and quality evidence.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Continue, retry within limits, or escalate to a named human owner.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Introduction to Agentic AI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Harbour Bean needs a 30-second vertical video about three ways to reduce bitter office coffee.</a:t>
            </a:r>
          </a:p>
          <a:p>
            <a:pPr>
              <a:spcAft>
                <a:spcPts val="1000"/>
              </a:spcAft>
            </a:pPr>
            <a:r>
              <a:rPr sz="1600" b="0">
                <a:solidFill>
                  <a:srgbClr val="161B26"/>
                </a:solidFill>
                <a:latin typeface="Arial"/>
              </a:rPr>
              <a:t>•  A coordinator agent checks the brief, delegates research and scripting, then prepares scene requests.</a:t>
            </a:r>
          </a:p>
          <a:p>
            <a:pPr>
              <a:spcAft>
                <a:spcPts val="1000"/>
              </a:spcAft>
            </a:pPr>
            <a:r>
              <a:rPr sz="1600" b="0">
                <a:solidFill>
                  <a:srgbClr val="161B26"/>
                </a:solidFill>
                <a:latin typeface="Arial"/>
              </a:rPr>
              <a:t>•  Every generator result is written to an asset register; publishing remains disabled until a person approves the final package.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has several dependent steps and the next action depends on intermediate evidence.</a:t>
            </a:r>
          </a:p>
          <a:p>
            <a:pPr>
              <a:spcAft>
                <a:spcPts val="1000"/>
              </a:spcAft>
            </a:pPr>
            <a:r>
              <a:rPr sz="1400" b="0">
                <a:solidFill>
                  <a:srgbClr val="5B6372"/>
                </a:solidFill>
                <a:latin typeface="Arial"/>
              </a:rPr>
              <a:t>–  Inputs, tool permissions, completion rules, and escalation paths can be stated clearly.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goal is vague, the source facts are unapproved, or there is no accountable owner.</a:t>
            </a:r>
          </a:p>
          <a:p>
            <a:pPr>
              <a:spcAft>
                <a:spcPts val="1000"/>
              </a:spcAft>
            </a:pPr>
            <a:r>
              <a:rPr sz="1400" b="0">
                <a:solidFill>
                  <a:srgbClr val="5B6372"/>
                </a:solidFill>
                <a:latin typeface="Arial"/>
              </a:rPr>
              <a:t>–  The proposed action would publish, spend, or use a person's likeness without explicit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Introduction to Agentic AI for Video Creation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system keeps generating options without reaching a defined finish state.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 completion checklist, iteration cap, and escalation rule.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run log shows why each tool was called and who approved the release.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Popular AI Video, Voice, and Agent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production stack usually separates orchestration from specialist tools. The orchestrator holds the workflow state and routes tasks. Language models research and write. Image or video generators create candidate shots. Speech services produce narration. Editors and command-line media tools assemble, caption, mix, and export. Publishing and analytics APIs act only after credentials and permissions are configured.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Product names and features change, but the jobs remain stable. A portable architecture defines each tool by capability, contract, and fallback instead of hiding the project inside one vendor. Structured outputs reduce broken hand-offs: a script agent should return timed beats, a visual tool should return a file plus provenance, and an editor should receive a validated manifest rather than free-form prose.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Popular AI Video, Voice, and Agent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List each production job and the data it consumes or creates.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 one primary tool and one manual or alternate fallback to each job.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structured fields, file names, size limits, and accepted formats.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Restrict credentials to the smallest permissions the tool needs.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cost, latency, rights terms, and failure behavior before 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Popular AI Video, Voice, and Agent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n8n coordinates eight stages without storing secret values in prompts.</a:t>
            </a:r>
          </a:p>
          <a:p>
            <a:pPr>
              <a:spcAft>
                <a:spcPts val="1000"/>
              </a:spcAft>
            </a:pPr>
            <a:r>
              <a:rPr sz="1600" b="0">
                <a:solidFill>
                  <a:srgbClr val="161B26"/>
                </a:solidFill>
                <a:latin typeface="Arial"/>
              </a:rPr>
              <a:t>•  ChatGPT or Claude creates structured research and script outputs from approved source material.</a:t>
            </a:r>
          </a:p>
          <a:p>
            <a:pPr>
              <a:spcAft>
                <a:spcPts val="1000"/>
              </a:spcAft>
            </a:pPr>
            <a:r>
              <a:rPr sz="1600" b="0">
                <a:solidFill>
                  <a:srgbClr val="161B26"/>
                </a:solidFill>
                <a:latin typeface="Arial"/>
              </a:rPr>
              <a:t>•  A chosen video generator supplies clips, ElevenLabs or an equivalent supplies narration, and FFmpeg or an editor assembles the vertical master.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specialist capability materially improves a defined stage and produces a portable output.</a:t>
            </a:r>
          </a:p>
          <a:p>
            <a:pPr>
              <a:spcAft>
                <a:spcPts val="1000"/>
              </a:spcAft>
            </a:pPr>
            <a:r>
              <a:rPr sz="1400" b="0">
                <a:solidFill>
                  <a:srgbClr val="5B6372"/>
                </a:solidFill>
                <a:latin typeface="Arial"/>
              </a:rPr>
              <a:t>–  The team has an approved account, a fallback, and a clear rights and privacy position.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tool requires confidential material that is not approved for that service.</a:t>
            </a:r>
          </a:p>
          <a:p>
            <a:pPr>
              <a:spcAft>
                <a:spcPts val="1000"/>
              </a:spcAft>
            </a:pPr>
            <a:r>
              <a:rPr sz="1400" b="0">
                <a:solidFill>
                  <a:srgbClr val="5B6372"/>
                </a:solidFill>
                <a:latin typeface="Arial"/>
              </a:rPr>
              <a:t>–  The workflow cannot export files, preserve provenance, or cap cost and retries.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Popular AI Video, Voice, and Agent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downstream stage cannot understand the previous tool's free-form response.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a JSON or file manifest contract with required fields.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stage can be swapped without redesigning the complete workflow.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Writing Effective Prompts for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effective agent prompt is an operating contract, not a slogan. This course uses B-R-I-E-F: Background, Role and responsibility, Inputs and evidence, Execution constraints, and Format plus finish condition. The prompt states which facts are authoritative, which tools may be used, what must never happen, and exactly what valid output looks like.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creative request such as 'make a viral video' leaves the system to invent the audience, claims, style, and success rule. A structured prompt produces comparable alternatives, exposes missing evidence, and makes hand-offs machine-readable. Separate stable system instructions from per-run input, and validate important fields before a later tool acts on them.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Writing Effective Prompts for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the audience, business purpose, channel, duration, and desired viewer action.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Provide approved source facts and mark unknown information explicitly.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Name the agent's role, allowed tools, cost and iteration limits, and prohibited actions.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a schema for scripts, scenes, claims, assets, risks, and open questions.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a finish condition and conditions that require human clarification.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Writing Effective Prompts for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Background: a Singapore cafe campaign for busy office workers.</a:t>
            </a:r>
          </a:p>
          <a:p>
            <a:pPr>
              <a:spcAft>
                <a:spcPts val="1000"/>
              </a:spcAft>
            </a:pPr>
            <a:r>
              <a:rPr sz="1600" b="0">
                <a:solidFill>
                  <a:srgbClr val="161B26"/>
                </a:solidFill>
                <a:latin typeface="Arial"/>
              </a:rPr>
              <a:t>•  Inputs: only the supplied brand brief and audience signals may support claims.</a:t>
            </a:r>
          </a:p>
          <a:p>
            <a:pPr>
              <a:spcAft>
                <a:spcPts val="1000"/>
              </a:spcAft>
            </a:pPr>
            <a:r>
              <a:rPr sz="1600" b="0">
                <a:solidFill>
                  <a:srgbClr val="161B26"/>
                </a:solidFill>
                <a:latin typeface="Arial"/>
              </a:rPr>
              <a:t>•  Execution: return three 25-35 second concepts; do not publish or imitate a living creator.</a:t>
            </a:r>
          </a:p>
          <a:p>
            <a:pPr>
              <a:spcAft>
                <a:spcPts val="1000"/>
              </a:spcAft>
            </a:pPr>
            <a:r>
              <a:rPr sz="1600" b="0">
                <a:solidFill>
                  <a:srgbClr val="161B26"/>
                </a:solidFill>
                <a:latin typeface="Arial"/>
              </a:rPr>
              <a:t>•  Format: valid JSON with hook, timed beats, scene list, evidence, risks, and status.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Inputs and desired outputs can be bounded and checked.</a:t>
            </a:r>
          </a:p>
          <a:p>
            <a:pPr>
              <a:spcAft>
                <a:spcPts val="1000"/>
              </a:spcAft>
            </a:pPr>
            <a:r>
              <a:rPr sz="1400" b="0">
                <a:solidFill>
                  <a:srgbClr val="5B6372"/>
                </a:solidFill>
                <a:latin typeface="Arial"/>
              </a:rPr>
              <a:t>–  Several tools or agents need a common production contract.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instruction hides a policy decision that an accountable person must make.</a:t>
            </a:r>
          </a:p>
          <a:p>
            <a:pPr>
              <a:spcAft>
                <a:spcPts val="1000"/>
              </a:spcAft>
            </a:pPr>
            <a:r>
              <a:rPr sz="1400" b="0">
                <a:solidFill>
                  <a:srgbClr val="5B6372"/>
                </a:solidFill>
                <a:latin typeface="Arial"/>
              </a:rPr>
              <a:t>–  The output cannot be validated before a costly or external action follows.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Writing Effective Prompts for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output looks plausible but omits required fields or invents a source.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 schema, evidence citations, explicit unknown handling, and a validator.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second run can use the same prompt contract and produce structurally valid output.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Designing an End-to-End Video 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workflow turns the production contract into observable stages: intake, research, concept selection, script and storyboard, asset generation, assembly, quality review, approval, publishing preparation, and learning. Each stage receives a defined input, writes a durable output, and returns a status such as ready, needs-revision, blocked, or approved.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Large all-in-one agents are difficult to debug and may repeat expensive work. Stage boundaries create checkpoints, allow deterministic validation, and let a learner restart from the last accepted artifact. Idempotency keys prevent a retry from duplicating external actions; run identifiers connect every artifact and log entry to the same job.</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Designing an End-to-End Video 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Draw the stages and mark every external system or generated artifact.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one input/output contract and owner for each stage.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Place validation before expensive generation and approval before publishing.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retry limits, timeouts, idempotency keys, and a dead-letter or rework route.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Log run ID, prompt version, tool, cost, result, evidence, and approval decision.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Designing an End-to-End Video 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Run HB-001 advances only when brief_status=approved and script_status=approved.</a:t>
            </a:r>
          </a:p>
          <a:p>
            <a:pPr>
              <a:spcAft>
                <a:spcPts val="1000"/>
              </a:spcAft>
            </a:pPr>
            <a:r>
              <a:rPr sz="1600" b="0">
                <a:solidFill>
                  <a:srgbClr val="161B26"/>
                </a:solidFill>
                <a:latin typeface="Arial"/>
              </a:rPr>
              <a:t>•  Scene generation retries once for a technical failure but routes a rights concern to human review.</a:t>
            </a:r>
          </a:p>
          <a:p>
            <a:pPr>
              <a:spcAft>
                <a:spcPts val="1000"/>
              </a:spcAft>
            </a:pPr>
            <a:r>
              <a:rPr sz="1600" b="0">
                <a:solidFill>
                  <a:srgbClr val="161B26"/>
                </a:solidFill>
                <a:latin typeface="Arial"/>
              </a:rPr>
              <a:t>•  The publishing node receives a release package only; it cannot see raw research or use an unapproved file.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work has repeatable stages and accepted artifacts can be reused.</a:t>
            </a:r>
          </a:p>
          <a:p>
            <a:pPr>
              <a:spcAft>
                <a:spcPts val="1000"/>
              </a:spcAft>
            </a:pPr>
            <a:r>
              <a:rPr sz="1400" b="0">
                <a:solidFill>
                  <a:srgbClr val="5B6372"/>
                </a:solidFill>
                <a:latin typeface="Arial"/>
              </a:rPr>
              <a:t>–  The system can save state and resume safely after a failure.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process is a one-off creative conversation with no reusable structure.</a:t>
            </a:r>
          </a:p>
          <a:p>
            <a:pPr>
              <a:spcAft>
                <a:spcPts val="1000"/>
              </a:spcAft>
            </a:pPr>
            <a:r>
              <a:rPr sz="1400" b="0">
                <a:solidFill>
                  <a:srgbClr val="5B6372"/>
                </a:solidFill>
                <a:latin typeface="Arial"/>
              </a:rPr>
              <a:t>–  A retry might duplicate an external action and no idempotency or approval control exists.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Designing an End-to-End Video Agent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failed final step forces the whole production to regenerate.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Persist accepted stage outputs and resume from a checkpoint.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run can stop, rejoin, and explain its complete state without guesswork.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Agentic AI for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Video Agent Production Contract and Autonomy Matrix</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Run the Bounded Video Planning Agent in n8n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the Video Agent Production Contract and Autonomy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turn the synthetic Harbour Bean campaign brief into a structured production contract, classify each task by autonomy level, and mark the evidence, approval, retry, and stop rules for the workflow.</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completed production-contract.json and autonomy-matrix.csv for run HB-001, saved in the connected project checkpoint.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Inspect the synthetic brief</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Define the production contract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Classify task autonomy</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Validate the files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supplied synthetic brief, JSON validator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the Video Agent Production Contract and Autonomy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validator must print LAB-01 PASS. It enforces JSON types, positive budget, all nine autonomy rows, prohibition of public publishing, and prohibition of secret exposure. The placeholder search must return no matches.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Run the Bounded Video Planning Agent in n8n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import a supplied n8n workflow, trace its trigger, validation, planning, guardrail, and output stages, then run one ready case and one blocked case. The agent uses deterministic mock planning so everyone can verify the control pattern without a paid API.</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An n8n workflow named C436-HB-001-Planning-Agent plus exported ready and blocked execution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Import the workflow</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Inspect contracts and gates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Run the ready job</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Force a blocked job</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n8n, supplied workflow JSON, production contract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Run the Bounded Video Planning Agent in n8n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Lab 2 validator must print LAB-02 PASS after reading ready-run.json, blocked-run.json, and ready-restored-run.json. Both ready results must remain non-publishing; the controlled missing-evidence result must fail closed.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Agentic AI for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explain agentic AI and design a controlled video workflow with explicit human decision points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use structured prompts and tool boundaries to implement a resumable planning workflow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Scripting and Generating Content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Trend and idea research | Scripts and storyboards | Visuals and B-roll | Voiceovers and music</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Day 1 afternoon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Scripting and Generating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Source register</a:t>
            </a:r>
          </a:p>
          <a:p>
            <a:pPr algn="l">
              <a:spcAft>
                <a:spcPts val="300"/>
              </a:spcAft>
            </a:pPr>
            <a:r>
              <a:rPr sz="1200" b="0">
                <a:solidFill>
                  <a:srgbClr val="5B6372"/>
                </a:solidFill>
                <a:latin typeface="Arial"/>
              </a:rPr>
              <a:t>A dated record of evidence, relevance, permissions, and claims that may be used.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Timed beat sheet</a:t>
            </a:r>
          </a:p>
          <a:p>
            <a:pPr algn="l">
              <a:spcAft>
                <a:spcPts val="300"/>
              </a:spcAft>
            </a:pPr>
            <a:r>
              <a:rPr sz="1200" b="0">
                <a:solidFill>
                  <a:srgbClr val="5B6372"/>
                </a:solidFill>
                <a:latin typeface="Arial"/>
              </a:rPr>
              <a:t>A sequence linking narration, visual, on-screen text, sound, and duration.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Asset manifest</a:t>
            </a:r>
          </a:p>
          <a:p>
            <a:pPr algn="l">
              <a:spcAft>
                <a:spcPts val="300"/>
              </a:spcAft>
            </a:pPr>
            <a:r>
              <a:rPr sz="1200" b="0">
                <a:solidFill>
                  <a:srgbClr val="5B6372"/>
                </a:solidFill>
                <a:latin typeface="Arial"/>
              </a:rPr>
              <a:t>The authoritative list of scene files, prompts, versions, rights notes, and status.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Continuity bible</a:t>
            </a:r>
          </a:p>
          <a:p>
            <a:pPr algn="l">
              <a:spcAft>
                <a:spcPts val="300"/>
              </a:spcAft>
            </a:pPr>
            <a:r>
              <a:rPr sz="1200" b="0">
                <a:solidFill>
                  <a:srgbClr val="5B6372"/>
                </a:solidFill>
                <a:latin typeface="Arial"/>
              </a:rPr>
              <a:t>Stable character, product, lighting, palette, camera, and negative constraints across generations.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Researching Trends and Ideas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Agentic research is a bounded evidence-gathering workflow. It starts with a question and approved source types, retrieves observations, records provenance, separates evidence from inference, and produces candidate ideas that are traceable to audience need. Trend signals are clues for timing and format, not permission to copy another creator.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research agent can gather many examples quickly, but search results may be stale, duplicated, promotional, or detached from the target audience. A source register and evidence threshold prevent a script agent from treating popularity as truth. The output should include open questions and rejected ideas, not only a polished recommendation.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Researching Trends and Ideas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State the audience problem, research window, market, and allowed sources.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Collect dated signals and record source, observation, and confidence separately.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Cluster repeated needs, questions, formats, and language patterns.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original angles from the brand's own proof and feasible assets.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Human-review the shortlist for relevance, truth, rights, and production effort.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Researching Trends and Ideas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Audience signals mention bitter office coffee, inconsistent scoops, and limited time.</a:t>
            </a:r>
          </a:p>
          <a:p>
            <a:pPr>
              <a:spcAft>
                <a:spcPts val="1000"/>
              </a:spcAft>
            </a:pPr>
            <a:r>
              <a:rPr sz="1600" b="0">
                <a:solidFill>
                  <a:srgbClr val="161B26"/>
                </a:solidFill>
                <a:latin typeface="Arial"/>
              </a:rPr>
              <a:t>•  The agent groups these into three teachable variables instead of copying a trending cafe video.</a:t>
            </a:r>
          </a:p>
          <a:p>
            <a:pPr>
              <a:spcAft>
                <a:spcPts val="1000"/>
              </a:spcAft>
            </a:pPr>
            <a:r>
              <a:rPr sz="1600" b="0">
                <a:solidFill>
                  <a:srgbClr val="161B26"/>
                </a:solidFill>
                <a:latin typeface="Arial"/>
              </a:rPr>
              <a:t>•  Each candidate idea cites the supplied observation and the brand fact that supports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question, time window, source types, and evidence threshold are explicit.</a:t>
            </a:r>
          </a:p>
          <a:p>
            <a:pPr>
              <a:spcAft>
                <a:spcPts val="1000"/>
              </a:spcAft>
            </a:pPr>
            <a:r>
              <a:rPr sz="1400" b="0">
                <a:solidFill>
                  <a:srgbClr val="5B6372"/>
                </a:solidFill>
                <a:latin typeface="Arial"/>
              </a:rPr>
              <a:t>–  A person can inspect the source register before ideas move to scripting.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workflow would scrape personal data or bypass platform access controls.</a:t>
            </a:r>
          </a:p>
          <a:p>
            <a:pPr>
              <a:spcAft>
                <a:spcPts val="1000"/>
              </a:spcAft>
            </a:pPr>
            <a:r>
              <a:rPr sz="1400" b="0">
                <a:solidFill>
                  <a:srgbClr val="5B6372"/>
                </a:solidFill>
                <a:latin typeface="Arial"/>
              </a:rPr>
              <a:t>–  Trend volume is being used as proof for a product or health claim.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Researching Trends and Ideas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idea bank contains unsourced claims and near-copies of examples.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Require provenance, originality notes, and a reason for every retained idea.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chosen idea can be traced to audience evidence and approved brand facts.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Generating Scripts and Storyboards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script translates the selected promise into spoken words and on-screen text; a storyboard translates the same promise into timed visual evidence. The agent should work in beats rather than a single paragraph. Every beat states time, narration, picture, overlay, sound, claim source, and transition so production and review share one model.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Short-form videos fail when words, visuals, and captions compete or when the final edit exceeds the target duration. Time budgeting before generation constrains scope and avoids unnecessary media cost. A storyboard also exposes scenes that cannot be produced safely or consistently before the system requests them.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Generating Scripts and Storyboards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Lock one hook, promise, evidence set, and viewer action.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Allocate seconds to hook, proof beats, synthesis, and close.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concise narration and a shorter complementary text overlay.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Specify a feasible shot, motion, composition, and transition for each beat.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claim, duration, continuity, accessibility, and rights checks before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Generating Scripts and Storyboards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30-second script allocates 3 seconds to the hook, 21 seconds to three fixes, and 6 seconds to recap and close.</a:t>
            </a:r>
          </a:p>
          <a:p>
            <a:pPr>
              <a:spcAft>
                <a:spcPts val="1000"/>
              </a:spcAft>
            </a:pPr>
            <a:r>
              <a:rPr sz="1600" b="0">
                <a:solidFill>
                  <a:srgbClr val="161B26"/>
                </a:solidFill>
                <a:latin typeface="Arial"/>
              </a:rPr>
              <a:t>•  The spoken line explains the fix while on-screen text labels only the variable.</a:t>
            </a:r>
          </a:p>
          <a:p>
            <a:pPr>
              <a:spcAft>
                <a:spcPts val="1000"/>
              </a:spcAft>
            </a:pPr>
            <a:r>
              <a:rPr sz="1600" b="0">
                <a:solidFill>
                  <a:srgbClr val="161B26"/>
                </a:solidFill>
                <a:latin typeface="Arial"/>
              </a:rPr>
              <a:t>•  Every claim points back to an approved source row; the storyboard marks one synthetic scene for disclosure.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message and source facts are approved and a duration can be fixed.</a:t>
            </a:r>
          </a:p>
          <a:p>
            <a:pPr>
              <a:spcAft>
                <a:spcPts val="1000"/>
              </a:spcAft>
            </a:pPr>
            <a:r>
              <a:rPr sz="1400" b="0">
                <a:solidFill>
                  <a:srgbClr val="5B6372"/>
                </a:solidFill>
                <a:latin typeface="Arial"/>
              </a:rPr>
              <a:t>–  The next stage needs structured scene requests and voice text.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script requires unsupported before-and-after proof or an unapproved likeness.</a:t>
            </a:r>
          </a:p>
          <a:p>
            <a:pPr>
              <a:spcAft>
                <a:spcPts val="1000"/>
              </a:spcAft>
            </a:pPr>
            <a:r>
              <a:rPr sz="1400" b="0">
                <a:solidFill>
                  <a:srgbClr val="5B6372"/>
                </a:solidFill>
                <a:latin typeface="Arial"/>
              </a:rPr>
              <a:t>–  The storyboard depends on complex continuity the chosen generator cannot maintain.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Generating Scripts and Storyboards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Narration, captions, and visuals repeat the same sentence.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Assign a distinct job to each channel: explain, label, or demonstrate.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cold reader can produce the intended cut from the timed beat sheet.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Creating Visuals and B-Roll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Visual generation converts storyboard beats into candidate images or clips. A strong scene request defines subject, action, environment, composition, camera, lighting, palette, duration, and negative constraints. The asset manifest records the prompt, model or tool, date, version, rights note, and accepted use for every file.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One attractive clip does not create a coherent video. Continuity, editability, and factual fit matter more than isolated novelty. Generate short modular shots, preserve safe areas for vertical overlays, and review anatomy, text, logos, product details, and motion before a clip is accepted.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Creating Visuals and B-Roll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 continuity bible from the approved brand and storyboard.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low-cost candidates or still frames before expensive motion.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Inspect each result against scene purpose, composition, continuity, and rights.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accepted and rejected versions in the asset manifest.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approved stock or a supplied fallback if generation fails.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Creating Visuals and B-Roll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Scene 02 shows a measured scoop and timer on a clean office pantry counter.</a:t>
            </a:r>
          </a:p>
          <a:p>
            <a:pPr>
              <a:spcAft>
                <a:spcPts val="1000"/>
              </a:spcAft>
            </a:pPr>
            <a:r>
              <a:rPr sz="1600" b="0">
                <a:solidFill>
                  <a:srgbClr val="161B26"/>
                </a:solidFill>
                <a:latin typeface="Arial"/>
              </a:rPr>
              <a:t>•  The prompt fixes the Harbour Bean palette and leaves the lower third clear for captions.</a:t>
            </a:r>
          </a:p>
          <a:p>
            <a:pPr>
              <a:spcAft>
                <a:spcPts val="1000"/>
              </a:spcAft>
            </a:pPr>
            <a:r>
              <a:rPr sz="1600" b="0">
                <a:solidFill>
                  <a:srgbClr val="161B26"/>
                </a:solidFill>
                <a:latin typeface="Arial"/>
              </a:rPr>
              <a:t>•  A clip with a malformed product label is rejected even if its motion is appealing.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scene is synthetic, clearly bounded, and does not require a real person's identity.</a:t>
            </a:r>
          </a:p>
          <a:p>
            <a:pPr>
              <a:spcAft>
                <a:spcPts val="1000"/>
              </a:spcAft>
            </a:pPr>
            <a:r>
              <a:rPr sz="1400" b="0">
                <a:solidFill>
                  <a:srgbClr val="5B6372"/>
                </a:solidFill>
                <a:latin typeface="Arial"/>
              </a:rPr>
              <a:t>–  The team can retain provenance and has a fallback for failed generation.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scene impersonates a person, fabricates a real event, or uses protected material without permission.</a:t>
            </a:r>
          </a:p>
          <a:p>
            <a:pPr>
              <a:spcAft>
                <a:spcPts val="1000"/>
              </a:spcAft>
            </a:pPr>
            <a:r>
              <a:rPr sz="1400" b="0">
                <a:solidFill>
                  <a:srgbClr val="5B6372"/>
                </a:solidFill>
                <a:latin typeface="Arial"/>
              </a:rPr>
              <a:t>–  The required text or exact product geometry should be produced deterministically in the editor.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Creating Visuals and B-Roll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Accepted scenes vary in lighting, product form, and screen direction.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Reuse a continuity bible and generate by shot family with reference frames where allowed.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accepted file has provenance and supports a named storyboard beat.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Generating Voiceovers and Music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Voice generation turns approved narration into timed audio. Music supports pace and emotion without masking speech. The workflow selects a permitted voice, normalises written text for speech, produces an audio file, checks pronunciation and duration, and records the service, settings, consent, and usage terms.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Audio can make a visually strong video inaccessible or untrustworthy. Unauthorised voice cloning, poor pronunciation, excessive loudness, and unclear licensing create avoidable risk. Voice and music are therefore separate reviewed assets with explicit owners and fallback options.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Generating Voiceovers and Music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an approved synthetic or licensed voice; obtain consent for any personal voice clone.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Rewrite symbols, dates, acronyms, and names for the intended spoken form.</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 test line, review pronunciation and pace, then render the full narration.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licensed music or a platform-approved library and retain the rights note.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Mix for intelligible speech, inspect peaks, and preview on speakers and headphones.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Generating Voiceovers and Music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agent converts '3 fixes in 30 sec' to natural spoken wording before synthesis.</a:t>
            </a:r>
          </a:p>
          <a:p>
            <a:pPr>
              <a:spcAft>
                <a:spcPts val="1000"/>
              </a:spcAft>
            </a:pPr>
            <a:r>
              <a:rPr sz="1600" b="0">
                <a:solidFill>
                  <a:srgbClr val="161B26"/>
                </a:solidFill>
                <a:latin typeface="Arial"/>
              </a:rPr>
              <a:t>•  The narrator file is saved with the script version and chosen settings.</a:t>
            </a:r>
          </a:p>
          <a:p>
            <a:pPr>
              <a:spcAft>
                <a:spcPts val="1000"/>
              </a:spcAft>
            </a:pPr>
            <a:r>
              <a:rPr sz="1600" b="0">
                <a:solidFill>
                  <a:srgbClr val="161B26"/>
                </a:solidFill>
                <a:latin typeface="Arial"/>
              </a:rPr>
              <a:t>•  Background music is ducked under speech and the no-music export remains available as a fallback.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voice identity and music rights are explicit and suitable for the intended channel.</a:t>
            </a:r>
          </a:p>
          <a:p>
            <a:pPr>
              <a:spcAft>
                <a:spcPts val="1000"/>
              </a:spcAft>
            </a:pPr>
            <a:r>
              <a:rPr sz="1400" b="0">
                <a:solidFill>
                  <a:srgbClr val="5B6372"/>
                </a:solidFill>
                <a:latin typeface="Arial"/>
              </a:rPr>
              <a:t>–  A person can listen to and approve the complete audio before assembly.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workflow clones a voice without documented permission.</a:t>
            </a:r>
          </a:p>
          <a:p>
            <a:pPr>
              <a:spcAft>
                <a:spcPts val="1000"/>
              </a:spcAft>
            </a:pPr>
            <a:r>
              <a:rPr sz="1400" b="0">
                <a:solidFill>
                  <a:srgbClr val="5B6372"/>
                </a:solidFill>
                <a:latin typeface="Arial"/>
              </a:rPr>
              <a:t>–  Licensing, commercial use, or territorial rights cannot be established.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Generating Voiceovers and Music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narration sounds natural but mispronounces the brand or exceeds the scene timing.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 pronunciation dictionary, rewrite for speech, and regenerate only the affected line.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approved audio matches the timed script and has a recorded rights basis.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Scripting and Generating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Research-to-Script Agent and Approve a Timed Storyboard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Visual, Voiceover, and Music Asset Request Pack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the Research-to-Script Agent and Approve a Timed Storyboard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an approved AI assistant with a structured B-R-I-E-F prompt, or the supplied offline result, to cluster synthetic audience signals, propose distinct concepts, and return a timed script and storyboard. You will validate the schema and manually approve only evidence-linked content.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source-register.csv, research-script-prompt.txt, script-storyboard.json, captions-script-v1.vtt, and storyboard-approval.md in stage folder 02-create.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Register evidence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Run a structured prompt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Validate timed output</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Review claims and scenes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Approved AI assistant or offline fallback, text editor, supplied synthetic data</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the Research-to-Script Agent and Approve a Timed Storyboard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validator must print LAB-03 PASS. It enforces run ID, script_ready status, exact Lab 2 fingerprint hand-off, human approval token, three concepts, required beat fields/source IDs, contiguous timing, and captions.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Visual, Voiceover, and Music Asset Request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import a deterministic asset-request workflow, generate a continuity bible and one request per storyboard beat, prepare narration and music briefs, and review the resulting asset manifest. Optional live generation is kept outside the required path; supplied placeholder media lets everyone continue.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continuity-bible.json, asset-requests.json, narration.txt, music-brief.md, and asset-manifest.csv with approved placeholders or authorised generated files.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Import the request agent</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Generate continuity and requests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Prepare voice and music briefs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Register files and provenance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n8n, optional approved video/voice tools, supplied placeholder media</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Visual, Voiceover, and Music Asset Request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validator must print LAB-04 PASS. It requires the exact S01-S05, A01, and A02 set, correct types, accepted approved-rights status, files, unique IDs, and the human APPROVED_FOR_ASSEMBLY token.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Scripting and Generating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create evidence-linked research, script, caption, and storyboard hand-offs from an approved brief</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create structured media-generation requests with continuity, provenance, rights, and fallback controls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Editing and Assembling Videos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Automated editing | Captions, effects, and branding | Short-form assembly | AI-supported review and refinement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Day 2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Editing and Assembling Videos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Edit decision list</a:t>
            </a:r>
          </a:p>
          <a:p>
            <a:pPr algn="l">
              <a:spcAft>
                <a:spcPts val="300"/>
              </a:spcAft>
            </a:pPr>
            <a:r>
              <a:rPr sz="1200" b="0">
                <a:solidFill>
                  <a:srgbClr val="5B6372"/>
                </a:solidFill>
                <a:latin typeface="Arial"/>
              </a:rPr>
              <a:t>A deterministic map from source assets to timeline order, in/out points, overlays, and transitions.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 probe</a:t>
            </a:r>
          </a:p>
          <a:p>
            <a:pPr algn="l">
              <a:spcAft>
                <a:spcPts val="300"/>
              </a:spcAft>
            </a:pPr>
            <a:r>
              <a:rPr sz="1200" b="0">
                <a:solidFill>
                  <a:srgbClr val="5B6372"/>
                </a:solidFill>
                <a:latin typeface="Arial"/>
              </a:rPr>
              <a:t>Machine-readable evidence about codec, resolution, frame rate, duration, audio, and streams.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Caption track</a:t>
            </a:r>
          </a:p>
          <a:p>
            <a:pPr algn="l">
              <a:spcAft>
                <a:spcPts val="300"/>
              </a:spcAft>
            </a:pPr>
            <a:r>
              <a:rPr sz="1200" b="0">
                <a:solidFill>
                  <a:srgbClr val="5B6372"/>
                </a:solidFill>
                <a:latin typeface="Arial"/>
              </a:rPr>
              <a:t>Time-aligned text stored as a portable file and optionally burned into the picture.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Quality gate</a:t>
            </a:r>
          </a:p>
          <a:p>
            <a:pPr algn="l">
              <a:spcAft>
                <a:spcPts val="300"/>
              </a:spcAft>
            </a:pPr>
            <a:r>
              <a:rPr sz="1200" b="0">
                <a:solidFill>
                  <a:srgbClr val="5B6372"/>
                </a:solidFill>
                <a:latin typeface="Arial"/>
              </a:rPr>
              <a:t>A documented set of technical, editorial, accessibility, rights, and brand checks.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Automating Video Editing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Automated editing turns an approved manifest and edit decision list into a repeatable render. Deterministic operations such as trim, scale, crop, concatenate, overlay, caption, and audio mix are best handled by an editor or media pipeline. A model may propose the sequence or repair plan, but the render command should be explicit and logged.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Regenerating a full timeline for a small change wastes time and can introduce new errors. Manifest-driven assembly makes each input and transformation visible, supports selective reruns, and produces the same output from the same accepted files. A media probe before and after the render catches mismatched dimensions, missing audio, and duration drift.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Automating Video Editing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that every required scene and audio file exists and is approved.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Normalise aspect ratio, frame rate, codec, and naming before assembly.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the timeline from a versioned edit decision list.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Render to a draft path, then probe technical properties and duration.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Promote only the accepted draft to the release folder.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Automating Video Editing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manifest lists five vertical scenes, one narration track, music, and a caption file.</a:t>
            </a:r>
          </a:p>
          <a:p>
            <a:pPr>
              <a:spcAft>
                <a:spcPts val="1000"/>
              </a:spcAft>
            </a:pPr>
            <a:r>
              <a:rPr sz="1600" b="0">
                <a:solidFill>
                  <a:srgbClr val="161B26"/>
                </a:solidFill>
                <a:latin typeface="Arial"/>
              </a:rPr>
              <a:t>•  The assembly script scales to 1080x1920, applies bounded trims, mixes audio, and exports a draft.</a:t>
            </a:r>
          </a:p>
          <a:p>
            <a:pPr>
              <a:spcAft>
                <a:spcPts val="1000"/>
              </a:spcAft>
            </a:pPr>
            <a:r>
              <a:rPr sz="1600" b="0">
                <a:solidFill>
                  <a:srgbClr val="161B26"/>
                </a:solidFill>
                <a:latin typeface="Arial"/>
              </a:rPr>
              <a:t>•  A duration check routes a 33.8-second result back because the contract requires no more than 32 seconds.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repeated edit can be expressed through a stable manifest or template.</a:t>
            </a:r>
          </a:p>
          <a:p>
            <a:pPr>
              <a:spcAft>
                <a:spcPts val="1000"/>
              </a:spcAft>
            </a:pPr>
            <a:r>
              <a:rPr sz="1400" b="0">
                <a:solidFill>
                  <a:srgbClr val="5B6372"/>
                </a:solidFill>
                <a:latin typeface="Arial"/>
              </a:rPr>
              <a:t>–  The team needs reproducible renders and traceable revisions.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creative decision depends on subtle performance judgment that is not encoded in the plan.</a:t>
            </a:r>
          </a:p>
          <a:p>
            <a:pPr>
              <a:spcAft>
                <a:spcPts val="1000"/>
              </a:spcAft>
            </a:pPr>
            <a:r>
              <a:rPr sz="1400" b="0">
                <a:solidFill>
                  <a:srgbClr val="5B6372"/>
                </a:solidFill>
                <a:latin typeface="Arial"/>
              </a:rPr>
              <a:t>–  The source media cannot be legally or technically processed by the chosen tool.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Quality Lens — Automating Video Editing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rerun changes unrelated parts of the video.</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Pin inputs, settings, and the edit decision list to a run version.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render log and media probe match the declared release specification.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Adding Captions, Effects, and Branding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Captions represent speech and essential audio in time-aligned text. Branding uses controlled typography, colour, logo placement, and tone. Effects should guide attention or clarify change; they are not a substitute for a coherent story. Separate caption text from styling so the same approved content can be exported as WebVTT, platform captions, or burned-in text.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Most short-form video is watched in varied sound and attention conditions. Accurate captions improve access and comprehension, while a consistent safe-area layout prevents text and controls from colliding. Automated transcription is a draft: names, numbers, timing, line breaks, and speaker meaning still require human review.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Adding Captions, Effects, and Branding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captions from the approved script or a reviewed transcript.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wording, timing, reading order, line length, and meaningful sound labels.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brand typography and colours within channel-safe areas.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effects only when they support a story beat or viewer orientation.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Export a portable caption file and preview the full vertical frame at phone size.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Adding Captions, Effects, and Branding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WebVTT file begins with the required header and contains ordered cue timings.</a:t>
            </a:r>
          </a:p>
          <a:p>
            <a:pPr>
              <a:spcAft>
                <a:spcPts val="1000"/>
              </a:spcAft>
            </a:pPr>
            <a:r>
              <a:rPr sz="1600" b="0">
                <a:solidFill>
                  <a:srgbClr val="161B26"/>
                </a:solidFill>
                <a:latin typeface="Arial"/>
              </a:rPr>
              <a:t>•  On-screen keywords complement rather than duplicate the complete caption line.</a:t>
            </a:r>
          </a:p>
          <a:p>
            <a:pPr>
              <a:spcAft>
                <a:spcPts val="1000"/>
              </a:spcAft>
            </a:pPr>
            <a:r>
              <a:rPr sz="1600" b="0">
                <a:solidFill>
                  <a:srgbClr val="161B26"/>
                </a:solidFill>
                <a:latin typeface="Arial"/>
              </a:rPr>
              <a:t>•  The logo and lower-third remain clear of common interface overlays.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transcript can be reviewed against the final audio.</a:t>
            </a:r>
          </a:p>
          <a:p>
            <a:pPr>
              <a:spcAft>
                <a:spcPts val="1000"/>
              </a:spcAft>
            </a:pPr>
            <a:r>
              <a:rPr sz="1400" b="0">
                <a:solidFill>
                  <a:srgbClr val="5B6372"/>
                </a:solidFill>
                <a:latin typeface="Arial"/>
              </a:rPr>
              <a:t>–  Brand assets and usage rules are approved and available.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system guesses inaudible speech or decorative text hides the subject.</a:t>
            </a:r>
          </a:p>
          <a:p>
            <a:pPr>
              <a:spcAft>
                <a:spcPts val="1000"/>
              </a:spcAft>
            </a:pPr>
            <a:r>
              <a:rPr sz="1400" b="0">
                <a:solidFill>
                  <a:srgbClr val="5B6372"/>
                </a:solidFill>
                <a:latin typeface="Arial"/>
              </a:rPr>
              <a:t>–  A generated logo, typeface, or sound effect has uncertain rights.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Adding Captions, Effects, and Branding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Captions are accurate but unreadable on a phone or out of sync after an edit.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Regenerate timings from the final audio and recheck safe area, contrast, and line breaks.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final file passes text, timing, contrast, and mobile-preview checks.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Assembling Short-Form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Assembly is the editorial act of making every visual, spoken line, caption, and sound serve one promise. The hook establishes relevance, the body delivers proof through a clear sequence, and the close completes the promise with a proportionate next action. Rhythm comes from information change, not from arbitrary rapid cuts.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agent can detect missing files, long gaps, repeated shots, or timing mismatches, but it cannot own the final communication judgment. The creator must watch the complete video as a viewer, with sound on and off, and confirm that the story remains understandable, truthful, and appropriately paced.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Assembling Short-Form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Start with the target promise and remove any beat that does not support it.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Align narration, picture, captions, and sound by function rather than repetition.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visual continuity and clear transitions to preserve orientation.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Preview from start to finish without stopping, then record only observable issues.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the smallest revision that fixes the stated issue and rerender.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Assembling Short-Form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opening shows the bitter-cup problem while narration names the viewer situation.</a:t>
            </a:r>
          </a:p>
          <a:p>
            <a:pPr>
              <a:spcAft>
                <a:spcPts val="1000"/>
              </a:spcAft>
            </a:pPr>
            <a:r>
              <a:rPr sz="1600" b="0">
                <a:solidFill>
                  <a:srgbClr val="161B26"/>
                </a:solidFill>
                <a:latin typeface="Arial"/>
              </a:rPr>
              <a:t>•  Three proof beats demonstrate variables in the same order as the spoken explanation.</a:t>
            </a:r>
          </a:p>
          <a:p>
            <a:pPr>
              <a:spcAft>
                <a:spcPts val="1000"/>
              </a:spcAft>
            </a:pPr>
            <a:r>
              <a:rPr sz="1600" b="0">
                <a:solidFill>
                  <a:srgbClr val="161B26"/>
                </a:solidFill>
                <a:latin typeface="Arial"/>
              </a:rPr>
              <a:t>•  The close summarises the checklist and invites the viewer to save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script, storyboard, media, and audio are approved enough for a complete draft.</a:t>
            </a:r>
          </a:p>
          <a:p>
            <a:pPr>
              <a:spcAft>
                <a:spcPts val="1000"/>
              </a:spcAft>
            </a:pPr>
            <a:r>
              <a:rPr sz="1400" b="0">
                <a:solidFill>
                  <a:srgbClr val="5B6372"/>
                </a:solidFill>
                <a:latin typeface="Arial"/>
              </a:rPr>
              <a:t>–  The team can preview on the intended aspect ratio and device.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Essential evidence is missing and the edit would disguise that gap.</a:t>
            </a:r>
          </a:p>
          <a:p>
            <a:pPr>
              <a:spcAft>
                <a:spcPts val="1000"/>
              </a:spcAft>
            </a:pPr>
            <a:r>
              <a:rPr sz="1400" b="0">
                <a:solidFill>
                  <a:srgbClr val="5B6372"/>
                </a:solidFill>
                <a:latin typeface="Arial"/>
              </a:rPr>
              <a:t>–  The workflow optimises only for cut frequency or novelty.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Assembling Short-Form Videos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edit is energetic but the viewer cannot restate the three fixes.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Restore causal order and remove decorative elements that compete with proof.</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cold viewer identifies the promise, proof, and next action without explanation.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Reviewing and Refining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review agent inspects the draft against a declared rubric and returns evidence, severity, location, and a bounded repair suggestion. It may compare the script to captions, probe the file, detect missing manifest entries, or flag brand and rights questions. It does not give itself permission to approve or publish its own work.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Unstructured feedback such as 'make it more engaging' causes uncontrolled rewrites. An issue register turns observations into reproducible decisions: issue ID, category, evidence, severity, owner, fix, and recheck result. Independent checks reduce the risk that the same assumptions survive from generation into review.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Reviewing and Refining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deterministic technical and manifest checks first.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story, claims, captions, rights, privacy, branding, and disclosure separately.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each issue with timecode or asset reference and supporting evidence.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 an owner and apply the smallest controlled change.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Rerun affected checks and obtain human approval on the complete final preview.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Reviewing and Refining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agent flags a caption mismatch at 00:12, a missing rights note for asset S03, and a 1.8-second duration overrun.</a:t>
            </a:r>
          </a:p>
          <a:p>
            <a:pPr>
              <a:spcAft>
                <a:spcPts val="1000"/>
              </a:spcAft>
            </a:pPr>
            <a:r>
              <a:rPr sz="1600" b="0">
                <a:solidFill>
                  <a:srgbClr val="161B26"/>
                </a:solidFill>
                <a:latin typeface="Arial"/>
              </a:rPr>
              <a:t>•  The editor fixes only those items and links the new render to the same run.</a:t>
            </a:r>
          </a:p>
          <a:p>
            <a:pPr>
              <a:spcAft>
                <a:spcPts val="1000"/>
              </a:spcAft>
            </a:pPr>
            <a:r>
              <a:rPr sz="1600" b="0">
                <a:solidFill>
                  <a:srgbClr val="161B26"/>
                </a:solidFill>
                <a:latin typeface="Arial"/>
              </a:rPr>
              <a:t>•  A person confirms the whole video after the automated checks return clear.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rubric, evidence sources, and severity thresholds are explicit.</a:t>
            </a:r>
          </a:p>
          <a:p>
            <a:pPr>
              <a:spcAft>
                <a:spcPts val="1000"/>
              </a:spcAft>
            </a:pPr>
            <a:r>
              <a:rPr sz="1400" b="0">
                <a:solidFill>
                  <a:srgbClr val="5B6372"/>
                </a:solidFill>
                <a:latin typeface="Arial"/>
              </a:rPr>
              <a:t>–  A human remains accountable for ambiguous creative and release decisions.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reviewer shares the same hidden context and merely confirms its own output.</a:t>
            </a:r>
          </a:p>
          <a:p>
            <a:pPr>
              <a:spcAft>
                <a:spcPts val="1000"/>
              </a:spcAft>
            </a:pPr>
            <a:r>
              <a:rPr sz="1400" b="0">
                <a:solidFill>
                  <a:srgbClr val="5B6372"/>
                </a:solidFill>
                <a:latin typeface="Arial"/>
              </a:rPr>
              <a:t>–  A score is used without evidence, location, or a repair path.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Reviewing and Refining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system gives a high quality score while required release evidence is missing.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blocking gates for mandatory fields and evidence-linked findings for judgment.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cleared issue has a recorded recheck and the final approval names a person.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Editing and Assembling Videos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Assemble and Probe the Captioned Vertical Video</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Independent Video Review Gate and Repair One Finding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and Probe the Captioned Vertical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the supplied PowerShell and FFmpeg assembly path to verify the accepted manifest sources, create deterministic scene clips, add narrated audio and a muxed WebVTT-derived caption track. You will then probe the draft and save machine-readable technical evidence.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vertical-draft-v1.mp4, captions-v1.vtt, edit-decision-list.json, ffprobe-v1.json, render-log-v1.txt, and render-evidence-v1.json in stage folder 03-edit.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Validate inputs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Build edit decision list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Render vertical draft</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Attach caption evidence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PowerShell, FFmpeg, FFprobe, supplied assembly script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Assemble and Probe the Captioned Vertical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validator must print LAB-05 PASS. It hashes and inspects the actual MP4, probe, captions, and log; asserts H.264, 1080x1920, 30 fps, yuv420p, 30-second duration, audio/subtitles, ordered VTT, and approval.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the Independent Video Review Gate and Repair One Finding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import an n8n review workflow that reads exact technical, caption, and manifest evidence, validates 28–32 seconds plus ordered contiguous cues, creates blocking and advisory findings, and never self-approves. You will inject a controlled defect, verify that the gate blocks, repair the data, rerun, and record the final human decision after watching the complete draft.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review-agent workflow export, issue-register-v1.json, issue-register-v2.json, repair-log.md, and final-review-approval.json.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Import independent review</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Inject a controlled defect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Verify the blocking gate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Repair and recheck</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n8n, FFprobe evidence, text editor, local media player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the Independent Video Review Gate and Repair One Finding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validator must print LAB-06 PASS: rights, invalid duration, or bad caption timing must block; repaired evidence stays non-releasing; the human JSON approval must bind the actual video hash and private-only scope.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Editing and Assembling Videos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assemble a reproducible short-form video with captions, branding, and technical evidence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review and refine a video through technical, editorial, accessibility, brand, rights, and release gates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Automating and Scaling Video Production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Multi-step video agents | Publishing and scheduling | Performance analysis | Scalable content pipelines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Day 2 afternoon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Automating and Scaling Video Production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Orchestrator</a:t>
            </a:r>
          </a:p>
          <a:p>
            <a:pPr algn="l">
              <a:spcAft>
                <a:spcPts val="300"/>
              </a:spcAft>
            </a:pPr>
            <a:r>
              <a:rPr sz="1200" b="0">
                <a:solidFill>
                  <a:srgbClr val="5B6372"/>
                </a:solidFill>
                <a:latin typeface="Arial"/>
              </a:rPr>
              <a:t>The workflow component that routes state between specialist stages and enforces gates.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Approval token</a:t>
            </a:r>
          </a:p>
          <a:p>
            <a:pPr algn="l">
              <a:spcAft>
                <a:spcPts val="300"/>
              </a:spcAft>
            </a:pPr>
            <a:r>
              <a:rPr sz="1200" b="0">
                <a:solidFill>
                  <a:srgbClr val="5B6372"/>
                </a:solidFill>
                <a:latin typeface="Arial"/>
              </a:rPr>
              <a:t>A recorded, scoped decision that authorises one release action for one approved package.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Metric contract</a:t>
            </a:r>
          </a:p>
          <a:p>
            <a:pPr algn="l">
              <a:spcAft>
                <a:spcPts val="300"/>
              </a:spcAft>
            </a:pPr>
            <a:r>
              <a:rPr sz="1200" b="0">
                <a:solidFill>
                  <a:srgbClr val="5B6372"/>
                </a:solidFill>
                <a:latin typeface="Arial"/>
              </a:rPr>
              <a:t>A definition of the decision, grain, window, numerator, denominator, and exclusions for each KPI.</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Scaling guardrail</a:t>
            </a:r>
          </a:p>
          <a:p>
            <a:pPr algn="l">
              <a:spcAft>
                <a:spcPts val="300"/>
              </a:spcAft>
            </a:pPr>
            <a:r>
              <a:rPr sz="1200" b="0">
                <a:solidFill>
                  <a:srgbClr val="5B6372"/>
                </a:solidFill>
                <a:latin typeface="Arial"/>
              </a:rPr>
              <a:t>A limit on volume, spend, retries, permissions, or variance that grows with automation.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Building Multi-Step Video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multi-step video system may use a coordinator plus specialist research, script, asset, edit, review, and release stages. Specialisation is valuable when each role has a distinct tool set and output contract. The coordinator should route state and enforce policies, not rewrite every artifact.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Adding agents increases hand-offs, cost, latency, and opportunities for inconsistent assumptions. Start with one workflow and split a stage only when the separation improves control, parallel work, specialist tooling, or evaluation. Shared run state must distinguish approved artifacts from drafts.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Building Multi-Step Video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a state machine with permitted transitions and blocking conditions.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Give each specialist the minimum context and tools required for its stage.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every hand-off against the shared schema and artifact version.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Cap iterations and route unresolved work to a rework queue or human owner.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Trace tool calls, costs, decisions, errors, and approvals under one run ID.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Building Multi-Step Video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HB-001 moves brief_approved -&gt; script_ready -&gt; assets_ready -&gt; draft_ready -&gt; release_ready.</a:t>
            </a:r>
          </a:p>
          <a:p>
            <a:pPr>
              <a:spcAft>
                <a:spcPts val="1000"/>
              </a:spcAft>
            </a:pPr>
            <a:r>
              <a:rPr sz="1600" b="0">
                <a:solidFill>
                  <a:srgbClr val="161B26"/>
                </a:solidFill>
                <a:latin typeface="Arial"/>
              </a:rPr>
              <a:t>•  A rights flag prevents the release stage from running even when all media files exist.</a:t>
            </a:r>
          </a:p>
          <a:p>
            <a:pPr>
              <a:spcAft>
                <a:spcPts val="1000"/>
              </a:spcAft>
            </a:pPr>
            <a:r>
              <a:rPr sz="1600" b="0">
                <a:solidFill>
                  <a:srgbClr val="161B26"/>
                </a:solidFill>
                <a:latin typeface="Arial"/>
              </a:rPr>
              <a:t>•  The coordinator sends the issue back to the asset owner rather than regenerating the script.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Specialist roles have distinct contracts, tools, or review criteria.</a:t>
            </a:r>
          </a:p>
          <a:p>
            <a:pPr>
              <a:spcAft>
                <a:spcPts val="1000"/>
              </a:spcAft>
            </a:pPr>
            <a:r>
              <a:rPr sz="1400" b="0">
                <a:solidFill>
                  <a:srgbClr val="5B6372"/>
                </a:solidFill>
                <a:latin typeface="Arial"/>
              </a:rPr>
              <a:t>–  The orchestrator can persist state and enforce permitted transitions.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One prompt and one tool would solve the bounded task more reliably.</a:t>
            </a:r>
          </a:p>
          <a:p>
            <a:pPr>
              <a:spcAft>
                <a:spcPts val="1000"/>
              </a:spcAft>
            </a:pPr>
            <a:r>
              <a:rPr sz="1400" b="0">
                <a:solidFill>
                  <a:srgbClr val="5B6372"/>
                </a:solidFill>
                <a:latin typeface="Arial"/>
              </a:rPr>
              <a:t>–  Agents share unrestricted credentials or can silently overwrite accepted artifacts.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Building Multi-Step Video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Agents loop or disagree about which artifact is current.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a state machine, immutable versions, and one authoritative manifest.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complete run can be reconstructed from state transitions and logs.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Publishing and Scheduling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Publishing is an external, high-impact action. The release stage should receive only an approved video, captions, metadata, disclosure decision, rights record, target account, privacy setting, and schedule. The default learning path produces a dry-run request and keeps visibility private until an authorised person reviews platform-specific fields and consents.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Platforms have different permissions, quotas, disclosure fields, and audit requirements. Automating the final click without checking creator information, audience settings, privacy, and synthetic-media disclosure can cause irreversible mistakes. A scoped approval token and idempotency key ensure one approved package produces at most one intended post.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Publishing and Scheduling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the release package and platform-specific required fields.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Query the authorised account or creator settings where the API requires 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Show the exact title, description, captions, disclosure, privacy, and schedule to a person.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approval, then initialise one private or scheduled upload with an idempotency key.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Poll processing status, record the returned post ID, and route errors without duplicate posts.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Publishing and Scheduling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C436 lab creates a private dry-run package for YouTube and a TikTok request preview.</a:t>
            </a:r>
          </a:p>
          <a:p>
            <a:pPr>
              <a:spcAft>
                <a:spcPts val="1000"/>
              </a:spcAft>
            </a:pPr>
            <a:r>
              <a:rPr sz="1600" b="0">
                <a:solidFill>
                  <a:srgbClr val="161B26"/>
                </a:solidFill>
                <a:latin typeface="Arial"/>
              </a:rPr>
              <a:t>•  The release remains blocked until disclosure, rights, and owner_approval fields are complete.</a:t>
            </a:r>
          </a:p>
          <a:p>
            <a:pPr>
              <a:spcAft>
                <a:spcPts val="1000"/>
              </a:spcAft>
            </a:pPr>
            <a:r>
              <a:rPr sz="1600" b="0">
                <a:solidFill>
                  <a:srgbClr val="161B26"/>
                </a:solidFill>
                <a:latin typeface="Arial"/>
              </a:rPr>
              <a:t>•  The workflow records the intended target and package checksum before any live integration is enabled.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account owner has authorised the app and can preview every required field.</a:t>
            </a:r>
          </a:p>
          <a:p>
            <a:pPr>
              <a:spcAft>
                <a:spcPts val="1000"/>
              </a:spcAft>
            </a:pPr>
            <a:r>
              <a:rPr sz="1400" b="0">
                <a:solidFill>
                  <a:srgbClr val="5B6372"/>
                </a:solidFill>
                <a:latin typeface="Arial"/>
              </a:rPr>
              <a:t>–  Private or draft mode, error handling, and duplicate prevention are available.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workflow would post publicly without explicit consent and a complete preview.</a:t>
            </a:r>
          </a:p>
          <a:p>
            <a:pPr>
              <a:spcAft>
                <a:spcPts val="1000"/>
              </a:spcAft>
            </a:pPr>
            <a:r>
              <a:rPr sz="1400" b="0">
                <a:solidFill>
                  <a:srgbClr val="5B6372"/>
                </a:solidFill>
                <a:latin typeface="Arial"/>
              </a:rPr>
              <a:t>–  Credentials, disclosure, rights, or platform audit requirements are unresolved.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Publishing and Scheduling Across Platforms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retry produces two uploads or exposes an unreviewed caption.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Gate the action with approval plus an idempotency key and reconcile the returned post ID.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release log links one approved package to one intended platform action.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Analysing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Performance analysis starts with a decision and a metric contract. Reach, starts, watch time, average view duration, completion, saves, shares, comments, and downstream actions describe different parts of audience response. The agent should calculate defined metrics at a consistent grain, compare appropriate windows, and separate observation from explanation.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large view count does not prove that a creative choice caused success. Platform metric definitions and counting rules can change, and small samples are unstable. A useful analysis agent preserves denominators, dates, segment, content version, and data source, then proposes a limited next test instead of declaring a universal rule.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It Works — Analysing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State the decision and choose one primary metric plus guardrails.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dates, video IDs, denominators, missing values, and metric definitions.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like with like and calculate rates at the intended grain.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Describe observed differences before proposing possible drivers.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Recommend one controlled creative or workflow change with a measurement window.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 Practice — Analysing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Harbour Bean synthetic dataset compares eight posts by hook family and duration.</a:t>
            </a:r>
          </a:p>
          <a:p>
            <a:pPr>
              <a:spcAft>
                <a:spcPts val="1000"/>
              </a:spcAft>
            </a:pPr>
            <a:r>
              <a:rPr sz="1600" b="0">
                <a:solidFill>
                  <a:srgbClr val="161B26"/>
                </a:solidFill>
                <a:latin typeface="Arial"/>
              </a:rPr>
              <a:t>•  The agent calculates completion and save rates from the supplied counts, then flags low-impression rows.</a:t>
            </a:r>
          </a:p>
          <a:p>
            <a:pPr>
              <a:spcAft>
                <a:spcPts val="1000"/>
              </a:spcAft>
            </a:pPr>
            <a:r>
              <a:rPr sz="1600" b="0">
                <a:solidFill>
                  <a:srgbClr val="161B26"/>
                </a:solidFill>
                <a:latin typeface="Arial"/>
              </a:rPr>
              <a:t>•  It recommends testing the strongest clear-promise hook while holding topic and duration band stable.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 source, metric definitions, window, and comparison grain are known.</a:t>
            </a:r>
          </a:p>
          <a:p>
            <a:pPr>
              <a:spcAft>
                <a:spcPts val="1000"/>
              </a:spcAft>
            </a:pPr>
            <a:r>
              <a:rPr sz="1400" b="0">
                <a:solidFill>
                  <a:srgbClr val="5B6372"/>
                </a:solidFill>
                <a:latin typeface="Arial"/>
              </a:rPr>
              <a:t>–  A proposed action can be tested and reviewed against guardrails.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Denominators are missing or metrics from different platforms are treated as identical.</a:t>
            </a:r>
          </a:p>
          <a:p>
            <a:pPr>
              <a:spcAft>
                <a:spcPts val="1000"/>
              </a:spcAft>
            </a:pPr>
            <a:r>
              <a:rPr sz="1400" b="0">
                <a:solidFill>
                  <a:srgbClr val="5B6372"/>
                </a:solidFill>
                <a:latin typeface="Arial"/>
              </a:rPr>
              <a:t>–  A single high-performing post is being treated as causal proof.</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Quality Lens — Analysing Performance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dashboard ranks videos by a rate calculated from incompatible denominators.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the metric contract and validate each row before analysis.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recommendation cites a defined metric, segment, window, caveat, and next test.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Scaling Your Video Content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Scaling means increasing useful throughput without losing evidence, control, or quality. The team standardises production contracts, templates, reusable agent tools, asset naming, review rubrics, and telemetry. Work is queued and prioritised; capacity and cost budgets are visible; exceptions are handled explicitly.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Volume magnifies small defects. A weak prompt creates many weak scripts, a permissive credential multiplies risk, and a missing rights record blocks an entire catalogue. Scale should follow demonstrated reliability at lower volume. Versioned templates, sampling, canary releases, and stop conditions keep growth reversible.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Scaling Your Video Content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 baseline lead time, rework, cost, quality findings, and release errors.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Standardise only stages with stable inputs, outputs, and owner acceptance.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Introduce queues, concurrency limits, budgets, and priority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canary batches and sample-based human review before increasing volume.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Monitor drift, rights expiry, tool changes, and incidents; pause when thresholds fail.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Scaling Your Video Content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team moves from one video to a three-video weekly batch using the same approved production contract.</a:t>
            </a:r>
          </a:p>
          <a:p>
            <a:pPr>
              <a:spcAft>
                <a:spcPts val="1000"/>
              </a:spcAft>
            </a:pPr>
            <a:r>
              <a:rPr sz="1600" b="0">
                <a:solidFill>
                  <a:srgbClr val="161B26"/>
                </a:solidFill>
                <a:latin typeface="Arial"/>
              </a:rPr>
              <a:t>•  Generation is capped per run, every fifth draft receives an additional cold review, and public release stays human-approved.</a:t>
            </a:r>
          </a:p>
          <a:p>
            <a:pPr>
              <a:spcAft>
                <a:spcPts val="1000"/>
              </a:spcAft>
            </a:pPr>
            <a:r>
              <a:rPr sz="1600" b="0">
                <a:solidFill>
                  <a:srgbClr val="161B26"/>
                </a:solidFill>
                <a:latin typeface="Arial"/>
              </a:rPr>
              <a:t>•  A scorecard tracks cycle time, cost per accepted video, rework rate, blocked rights items, and post-release learning.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pilot is reliable, measurable, and recoverable.</a:t>
            </a:r>
          </a:p>
          <a:p>
            <a:pPr>
              <a:spcAft>
                <a:spcPts val="1000"/>
              </a:spcAft>
            </a:pPr>
            <a:r>
              <a:rPr sz="1400" b="0">
                <a:solidFill>
                  <a:srgbClr val="5B6372"/>
                </a:solidFill>
                <a:latin typeface="Arial"/>
              </a:rPr>
              <a:t>–  Owners, limits, incident response, and manual fallback are in place.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Quality evidence is incomplete or rework already consumes more time than the workflow saves.</a:t>
            </a:r>
          </a:p>
          <a:p>
            <a:pPr>
              <a:spcAft>
                <a:spcPts val="1000"/>
              </a:spcAft>
            </a:pPr>
            <a:r>
              <a:rPr sz="1400" b="0">
                <a:solidFill>
                  <a:srgbClr val="5B6372"/>
                </a:solidFill>
                <a:latin typeface="Arial"/>
              </a:rPr>
              <a:t>–  The plan increases permissions or public actions faster than monitoring and review capacity.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Scaling Your Video Content Pipeline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Output volume rises while accepted-video cost and rework also rise.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Throttle the queue and fix the earliest stage producing repeated defects.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Throughput improves while guardrail metrics remain within agreed limits.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Automating and Scaling Video Production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Orchestrate the Private Release Package with Human Approval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Synthetic Performance and Build the Scaling Control Plan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Orchestrate the Private Release Package with Human Approval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import a release orchestrator, inspect its state transitions, validate video, caption, metadata, rights, and disclosure fields, then exercise denial and approval paths. The lab creates a dry-run package only; no public account or live posting credential is used.</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release-package.json, denied-approval.json, private-release-approval.json, and release-orchestrator-reviewed.json in stage folder 04-release.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Import the orchestrator</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Validate release inputs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Exercise denial</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Issue scoped approval</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n8n, supplied release workflow, reviewed video package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Orchestrate the Private Release Package with Human Approval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validator must print LAB-07 PASS. It recomputes the canonical package and every video/caption/rights/final-review hash, requires an exact approval hash plus future expiry, and validates zero-action platform previews.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Analyse Synthetic Performance and Build the Scaling Control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import a deterministic analytics workflow, validate metric definitions and denominators, calculate completion and save rates, inspect low-volume caveats, and produce one creative experiment. You will then complete a scaling scorecard covering throughput, cost, rework, quality, rights, incidents, and rollback.</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metric-contract.json, analytics-result.json, next-test.md, scaling-scorecard.csv, and integrated-handover.md in stage folder 05-learn.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Define metric contracts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Validate synthetic data</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Calculate and compare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Design one next test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n8n, supplied synthetic analytics CSV, spreadsheet or text editor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Analyse Synthetic Performance and Build the Scaling Control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validator must print LAB-08 PASS. It proves low-volume exclusion, baseline/pilot, duplicate-release, rollback, and capacity gates, exact scorecard controls, the complete next test/handover, and a structured HOLD/canary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Automating and Scaling Video Production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orchestrate multi-step agents and prepare safe platform-specific publishing actions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analyse performance with metric contracts and scale the pipeline through measurable guardrails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Design the Agent</a:t>
            </a:r>
          </a:p>
          <a:p>
            <a:pPr algn="l">
              <a:spcAft>
                <a:spcPts val="300"/>
              </a:spcAft>
            </a:pPr>
            <a:r>
              <a:rPr sz="1300" b="0">
                <a:solidFill>
                  <a:srgbClr val="5B6372"/>
                </a:solidFill>
                <a:latin typeface="Arial"/>
              </a:rPr>
              <a:t>Explain agentic AI, select suitable video-production tools, write bounded prompts, and design a controlled end-to-end workflow.</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Generate the Assets</a:t>
            </a:r>
          </a:p>
          <a:p>
            <a:pPr algn="l">
              <a:spcAft>
                <a:spcPts val="300"/>
              </a:spcAft>
            </a:pPr>
            <a:r>
              <a:rPr sz="1300" b="0">
                <a:solidFill>
                  <a:srgbClr val="5B6372"/>
                </a:solidFill>
                <a:latin typeface="Arial"/>
              </a:rPr>
              <a:t>Build AI-assisted research, scripting, storyboard, visual, voiceover, and music hand-offs from an approved creative brief.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Edit and Review</a:t>
            </a:r>
          </a:p>
          <a:p>
            <a:pPr algn="l">
              <a:spcAft>
                <a:spcPts val="300"/>
              </a:spcAft>
            </a:pPr>
            <a:r>
              <a:rPr sz="1300" b="0">
                <a:solidFill>
                  <a:srgbClr val="5B6372"/>
                </a:solidFill>
                <a:latin typeface="Arial"/>
              </a:rPr>
              <a:t>Assemble and refine a short-form video through automated editing, captioning, branding, and evidence-based quality checks.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Publish and Scale</a:t>
            </a:r>
          </a:p>
          <a:p>
            <a:pPr algn="l">
              <a:spcAft>
                <a:spcPts val="300"/>
              </a:spcAft>
            </a:pPr>
            <a:r>
              <a:rPr sz="1300" b="0">
                <a:solidFill>
                  <a:srgbClr val="5B6372"/>
                </a:solidFill>
                <a:latin typeface="Arial"/>
              </a:rPr>
              <a:t>Orchestrate multi-step video agents with human approval, prepare safe publishing actions, analyse performance, and plan responsible scale.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Building Safely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Replace one mock stage at a time and retain its contract and fallback.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Create test jobs for missing inputs, malformed output, tool failure, and denied approval.</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publishing private until platform permissions and an accountable release owner are confirmed.</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Measure accepted output, rework, cost, latency, and incidents before increasing volume.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C436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C436 | AGENTIC AI FOR VIDEO CREATION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and operate a bounded video-production agent from approved brief to evidence-led scaling plan.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