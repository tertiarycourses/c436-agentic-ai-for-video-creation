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Agentic AI for Video Creation</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C436</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v2.0  ·  16 September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TRAINERS LISTED ON THE C436 COURSE PAGE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Course Trainer Profiles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Surendra Batukdeo</a:t>
            </a:r>
          </a:p>
          <a:p>
            <a:pPr algn="l">
              <a:spcAft>
                <a:spcPts val="300"/>
              </a:spcAft>
            </a:pPr>
            <a:r>
              <a:rPr sz="1300" b="0">
                <a:solidFill>
                  <a:srgbClr val="5B6372"/>
                </a:solidFill>
                <a:latin typeface="Arial"/>
              </a:rPr>
              <a:t>Emerging-technology, automation, data-intelligence, project, and technical-training experience.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Agus Salim</a:t>
            </a:r>
          </a:p>
          <a:p>
            <a:pPr algn="l">
              <a:spcAft>
                <a:spcPts val="300"/>
              </a:spcAft>
            </a:pPr>
            <a:r>
              <a:rPr sz="1300" b="0">
                <a:solidFill>
                  <a:srgbClr val="5B6372"/>
                </a:solidFill>
                <a:latin typeface="Arial"/>
              </a:rPr>
              <a:t>IT solutions, systems integration, cloud infrastructure, project, and cybersecurity experience.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Quah Chee Yong</a:t>
            </a:r>
          </a:p>
          <a:p>
            <a:pPr algn="l">
              <a:spcAft>
                <a:spcPts val="300"/>
              </a:spcAft>
            </a:pPr>
            <a:r>
              <a:rPr sz="1300" b="0">
                <a:solidFill>
                  <a:srgbClr val="5B6372"/>
                </a:solidFill>
                <a:latin typeface="Arial"/>
              </a:rPr>
              <a:t>Data science, Python, natural-language processing, machine-learning, and AI-training experience.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Introduce yourself and name one short-form video workflow you would like to improve.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Identify the stage that consumes the most time or creates the most rework.</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State one video action you would never allow an agent to take without your approval.</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MATERIALS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Access Course Materials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C436 course page or the trainer-supplied Drive folder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courseware links for this course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Learner Guide and Lesson Plan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Activities folder for all 8 labs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 files together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500" b="1">
                <a:solidFill>
                  <a:srgbClr val="1F6FEB"/>
                </a:solidFill>
                <a:latin typeface="Arial"/>
              </a:rPr>
              <a:t>Course page:  https://www.tertiarycourses.com.sg/agentic-ai-for-video-creation.html</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Lesson Plan — 2 Days, 15 instructional hours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Course sequence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Configure Hermes, engineer video prompts and route the media tools</a:t>
            </a:r>
          </a:p>
          <a:p>
            <a:pPr>
              <a:spcAft>
                <a:spcPts val="1000"/>
              </a:spcAft>
            </a:pPr>
            <a:r>
              <a:rPr sz="1400" b="0">
                <a:solidFill>
                  <a:srgbClr val="5B6372"/>
                </a:solidFill>
                <a:latin typeface="Arial"/>
              </a:rPr>
              <a:t>–  Topic 1: Hermes Agent Setup, MiniMax M3 and Video Prompt Engineering (Labs 1–3)</a:t>
            </a:r>
          </a:p>
          <a:p>
            <a:pPr>
              <a:spcAft>
                <a:spcPts val="1000"/>
              </a:spcAft>
            </a:pPr>
            <a:r>
              <a:rPr sz="1400" b="0">
                <a:solidFill>
                  <a:srgbClr val="5B6372"/>
                </a:solidFill>
                <a:latin typeface="Arial"/>
              </a:rPr>
              <a:t>–  Topic 2: Video Tools, Hermes Skills and Custom Brand Production (Labs 4–5)</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Build the branded video, then orchestrate review and controlled release</a:t>
            </a:r>
          </a:p>
          <a:p>
            <a:pPr>
              <a:spcAft>
                <a:spcPts val="1000"/>
              </a:spcAft>
            </a:pPr>
            <a:r>
              <a:rPr sz="1400" b="0">
                <a:solidFill>
                  <a:srgbClr val="5B6372"/>
                </a:solidFill>
                <a:latin typeface="Arial"/>
              </a:rPr>
              <a:t>–  Topic 3: Multi-Agent Kanban, YouTube Release and Scheduled Publishing (Labs 6–8)</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 am - 6:30 pm (1-hour lunch; two 15-minute tea breaks; 7.5 instructional hours)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Plan the Video</a:t>
            </a:r>
          </a:p>
          <a:p>
            <a:pPr algn="l">
              <a:spcAft>
                <a:spcPts val="300"/>
              </a:spcAft>
            </a:pPr>
            <a:r>
              <a:rPr sz="1300" b="0">
                <a:solidFill>
                  <a:srgbClr val="5B6372"/>
                </a:solidFill>
                <a:latin typeface="Arial"/>
              </a:rPr>
              <a:t>Develop an editing strategy and work plan in Hermes Agent using MiniMax M3, structured video prompts and governed tool selection.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Build the Video</a:t>
            </a:r>
          </a:p>
          <a:p>
            <a:pPr algn="l">
              <a:spcAft>
                <a:spcPts val="300"/>
              </a:spcAft>
            </a:pPr>
            <a:r>
              <a:rPr sz="1300" b="0">
                <a:solidFill>
                  <a:srgbClr val="5B6372"/>
                </a:solidFill>
                <a:latin typeface="Arial"/>
              </a:rPr>
              <a:t>Create and customise an evidence-backed video with Hermes skills, Remotion, Manim, Higgsfield-compatible requests and deterministic media checks.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Orchestrate and Release</a:t>
            </a:r>
          </a:p>
          <a:p>
            <a:pPr algn="l">
              <a:spcAft>
                <a:spcPts val="300"/>
              </a:spcAft>
            </a:pPr>
            <a:r>
              <a:rPr sz="1300" b="0">
                <a:solidFill>
                  <a:srgbClr val="5B6372"/>
                </a:solidFill>
                <a:latin typeface="Arial"/>
              </a:rPr>
              <a:t>Orchestrate research, production, review and YouTube release agents through a durable Kanban board and controlled scheduled publishing.</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Agentic Video Production Foundations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Makes a Video Workflow Agentic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Goal and state</a:t>
            </a:r>
          </a:p>
          <a:p>
            <a:pPr algn="l">
              <a:spcAft>
                <a:spcPts val="300"/>
              </a:spcAft>
            </a:pPr>
            <a:r>
              <a:rPr sz="1300" b="0">
                <a:solidFill>
                  <a:srgbClr val="5B6372"/>
                </a:solidFill>
                <a:latin typeface="Arial"/>
              </a:rPr>
              <a:t>The system knows the approved brief, the accepted artifacts, the current stage, and the unresolved work.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Reasoning and routing</a:t>
            </a:r>
          </a:p>
          <a:p>
            <a:pPr algn="l">
              <a:spcAft>
                <a:spcPts val="300"/>
              </a:spcAft>
            </a:pPr>
            <a:r>
              <a:rPr sz="1300" b="0">
                <a:solidFill>
                  <a:srgbClr val="5B6372"/>
                </a:solidFill>
                <a:latin typeface="Arial"/>
              </a:rPr>
              <a:t>MiniMax M3 chooses among bounded next actions while deterministic rules enforce known constraints.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Tools and skills</a:t>
            </a:r>
          </a:p>
          <a:p>
            <a:pPr algn="l">
              <a:spcAft>
                <a:spcPts val="300"/>
              </a:spcAft>
            </a:pPr>
            <a:r>
              <a:rPr sz="1300" b="0">
                <a:solidFill>
                  <a:srgbClr val="5B6372"/>
                </a:solidFill>
                <a:latin typeface="Arial"/>
              </a:rPr>
              <a:t>Every capability has typed inputs, portable outputs, permissions, budgets, and failure behaviour.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Evidence and control</a:t>
            </a:r>
          </a:p>
          <a:p>
            <a:pPr algn="l">
              <a:spcAft>
                <a:spcPts val="300"/>
              </a:spcAft>
            </a:pPr>
            <a:r>
              <a:rPr sz="1300" b="0">
                <a:solidFill>
                  <a:srgbClr val="5B6372"/>
                </a:solidFill>
                <a:latin typeface="Arial"/>
              </a:rPr>
              <a:t>Ledgers, hashes, probes, approvals, and stop rules keep the work reviewable.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C436 Agent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 | Observe</a:t>
            </a:r>
          </a:p>
          <a:p>
            <a:pPr algn="l">
              <a:spcAft>
                <a:spcPts val="300"/>
              </a:spcAft>
            </a:pPr>
            <a:r>
              <a:rPr sz="1200" b="0">
                <a:solidFill>
                  <a:srgbClr val="5B6372"/>
                </a:solidFill>
                <a:latin typeface="Arial"/>
              </a:rPr>
              <a:t>Read the approved brief, the current state, and the asset manifest.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 | Plan</a:t>
            </a:r>
          </a:p>
          <a:p>
            <a:pPr algn="l">
              <a:spcAft>
                <a:spcPts val="300"/>
              </a:spcAft>
            </a:pPr>
            <a:r>
              <a:rPr sz="1200" b="0">
                <a:solidFill>
                  <a:srgbClr val="5B6372"/>
                </a:solidFill>
                <a:latin typeface="Arial"/>
              </a:rPr>
              <a:t>Produce a validated shot plan that totals the approved duration.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 | Act</a:t>
            </a:r>
          </a:p>
          <a:p>
            <a:pPr algn="l">
              <a:spcAft>
                <a:spcPts val="300"/>
              </a:spcAft>
            </a:pPr>
            <a:r>
              <a:rPr sz="1200" b="0">
                <a:solidFill>
                  <a:srgbClr val="5B6372"/>
                </a:solidFill>
                <a:latin typeface="Arial"/>
              </a:rPr>
              <a:t>Call one allowed tool or skill with structured inputs and a capped attempt count.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 | Inspect</a:t>
            </a:r>
          </a:p>
          <a:p>
            <a:pPr algn="l">
              <a:spcAft>
                <a:spcPts val="300"/>
              </a:spcAft>
            </a:pPr>
            <a:r>
              <a:rPr sz="1200" b="0">
                <a:solidFill>
                  <a:srgbClr val="5B6372"/>
                </a:solidFill>
                <a:latin typeface="Arial"/>
              </a:rPr>
              <a:t>Probe the artifact and check it against the declared delivery specification.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 Decide</a:t>
            </a:r>
          </a:p>
          <a:p>
            <a:pPr algn="l">
              <a:spcAft>
                <a:spcPts val="300"/>
              </a:spcAft>
            </a:pPr>
            <a:r>
              <a:rPr sz="1200" b="0">
                <a:solidFill>
                  <a:srgbClr val="5B6372"/>
                </a:solidFill>
                <a:latin typeface="Arial"/>
              </a:rPr>
              <a:t>Accept, repair within limits, or stop and record the stop reason.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 | Record</a:t>
            </a:r>
          </a:p>
          <a:p>
            <a:pPr algn="l">
              <a:spcAft>
                <a:spcPts val="300"/>
              </a:spcAft>
            </a:pPr>
            <a:r>
              <a:rPr sz="1200" b="0">
                <a:solidFill>
                  <a:srgbClr val="5B6372"/>
                </a:solidFill>
                <a:latin typeface="Arial"/>
              </a:rPr>
              <a:t>Persist the ledger entry, the hash, and the approval decision before continuing.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CORE PRINCIPLE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Autonomy is a design variable, not the goal.</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Use deterministic tools for known operations, model judgment for bounded choices, and human approval for consequential actions.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Connected Hermes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Configure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Hermes runtime</a:t>
            </a:r>
          </a:p>
          <a:p>
            <a:pPr>
              <a:spcAft>
                <a:spcPts val="900"/>
              </a:spcAft>
            </a:pPr>
            <a:r>
              <a:rPr sz="1400" b="0">
                <a:solidFill>
                  <a:srgbClr val="161B26"/>
                </a:solidFill>
                <a:latin typeface="Arial"/>
              </a:rPr>
              <a:t>•  MiniMax M3</a:t>
            </a:r>
          </a:p>
          <a:p>
            <a:pPr>
              <a:spcAft>
                <a:spcPts val="900"/>
              </a:spcAft>
            </a:pPr>
            <a:r>
              <a:rPr sz="1400" b="0">
                <a:solidFill>
                  <a:srgbClr val="161B26"/>
                </a:solidFill>
                <a:latin typeface="Arial"/>
              </a:rPr>
              <a:t>•  Credential isolation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Prompt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FRAME-CUT contract</a:t>
            </a:r>
          </a:p>
          <a:p>
            <a:pPr>
              <a:spcAft>
                <a:spcPts val="900"/>
              </a:spcAft>
            </a:pPr>
            <a:r>
              <a:rPr sz="1400" b="0">
                <a:solidFill>
                  <a:srgbClr val="161B26"/>
                </a:solidFill>
                <a:latin typeface="Arial"/>
              </a:rPr>
              <a:t>•  Shot plan JSON</a:t>
            </a:r>
          </a:p>
          <a:p>
            <a:pPr>
              <a:spcAft>
                <a:spcPts val="900"/>
              </a:spcAft>
            </a:pPr>
            <a:r>
              <a:rPr sz="1400" b="0">
                <a:solidFill>
                  <a:srgbClr val="161B26"/>
                </a:solidFill>
                <a:latin typeface="Arial"/>
              </a:rPr>
              <a:t>•  Preview render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Produce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Tool routing</a:t>
            </a:r>
          </a:p>
          <a:p>
            <a:pPr>
              <a:spcAft>
                <a:spcPts val="900"/>
              </a:spcAft>
            </a:pPr>
            <a:r>
              <a:rPr sz="1400" b="0">
                <a:solidFill>
                  <a:srgbClr val="161B26"/>
                </a:solidFill>
                <a:latin typeface="Arial"/>
              </a:rPr>
              <a:t>•  Brand tokens</a:t>
            </a:r>
          </a:p>
          <a:p>
            <a:pPr>
              <a:spcAft>
                <a:spcPts val="900"/>
              </a:spcAft>
            </a:pPr>
            <a:r>
              <a:rPr sz="1400" b="0">
                <a:solidFill>
                  <a:srgbClr val="161B26"/>
                </a:solidFill>
                <a:latin typeface="Arial"/>
              </a:rPr>
              <a:t>•  Custom video skill</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Progresses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Open the lab folder as the current Hermes project and read its copy-ready prompts.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Ask Hermes to inspect the supplied local files before it proposes a plan.</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Require a preview before any network, paid-generation, upload, or scheduling side effect.</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Run the lab's verify.py and retain the PASS output with the requested evidence.</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Reflect on which choices should remain deterministic, model-led, or human-approved.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CONTROL DESIGN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Autonomy Matrix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Deterministic</a:t>
            </a:r>
          </a:p>
          <a:p>
            <a:pPr algn="l">
              <a:spcAft>
                <a:spcPts val="300"/>
              </a:spcAft>
            </a:pPr>
            <a:r>
              <a:rPr sz="1200" b="0">
                <a:solidFill>
                  <a:srgbClr val="5B6372"/>
                </a:solidFill>
                <a:latin typeface="Arial"/>
              </a:rPr>
              <a:t>Schema validation, duration arithmetic, media probing, hashing, and file naming.</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Model-assisted</a:t>
            </a:r>
          </a:p>
          <a:p>
            <a:pPr algn="l">
              <a:spcAft>
                <a:spcPts val="300"/>
              </a:spcAft>
            </a:pPr>
            <a:r>
              <a:rPr sz="1200" b="0">
                <a:solidFill>
                  <a:srgbClr val="5B6372"/>
                </a:solidFill>
                <a:latin typeface="Arial"/>
              </a:rPr>
              <a:t>Shot planning, prompt repair, review findings, and research clustering.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Human-approved</a:t>
            </a:r>
          </a:p>
          <a:p>
            <a:pPr algn="l">
              <a:spcAft>
                <a:spcPts val="300"/>
              </a:spcAft>
            </a:pPr>
            <a:r>
              <a:rPr sz="1200" b="0">
                <a:solidFill>
                  <a:srgbClr val="5B6372"/>
                </a:solidFill>
                <a:latin typeface="Arial"/>
              </a:rPr>
              <a:t>Claims, rights, brand exceptions, the final master, and every release action.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Prohibited by default</a:t>
            </a:r>
          </a:p>
          <a:p>
            <a:pPr algn="l">
              <a:spcAft>
                <a:spcPts val="300"/>
              </a:spcAft>
            </a:pPr>
            <a:r>
              <a:rPr sz="1200" b="0">
                <a:solidFill>
                  <a:srgbClr val="5B6372"/>
                </a:solidFill>
                <a:latin typeface="Arial"/>
              </a:rPr>
              <a:t>Unreviewed public posts, credential exposure, and living-artist imitation.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STRUCTURED PROMPT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FRAME-CUT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Format and finish</a:t>
            </a:r>
          </a:p>
          <a:p>
            <a:pPr algn="l">
              <a:spcAft>
                <a:spcPts val="300"/>
              </a:spcAft>
            </a:pPr>
            <a:r>
              <a:rPr sz="1200" b="0">
                <a:solidFill>
                  <a:srgbClr val="5B6372"/>
                </a:solidFill>
                <a:latin typeface="Arial"/>
              </a:rPr>
              <a:t>Channel, duration, aspect ratio, and delivery codec frozen before shot work.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Role and references</a:t>
            </a:r>
          </a:p>
          <a:p>
            <a:pPr algn="l">
              <a:spcAft>
                <a:spcPts val="300"/>
              </a:spcAft>
            </a:pPr>
            <a:r>
              <a:rPr sz="1200" b="0">
                <a:solidFill>
                  <a:srgbClr val="5B6372"/>
                </a:solidFill>
                <a:latin typeface="Arial"/>
              </a:rPr>
              <a:t>Assigned role, attached brief, registered sources, and authorised assets.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Action and motion</a:t>
            </a:r>
          </a:p>
          <a:p>
            <a:pPr algn="l">
              <a:spcAft>
                <a:spcPts val="300"/>
              </a:spcAft>
            </a:pPr>
            <a:r>
              <a:rPr sz="1200" b="0">
                <a:solidFill>
                  <a:srgbClr val="5B6372"/>
                </a:solidFill>
                <a:latin typeface="Arial"/>
              </a:rPr>
              <a:t>One dominant subject action and one camera move per timed shot.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Continuity and unwanted</a:t>
            </a:r>
          </a:p>
          <a:p>
            <a:pPr algn="l">
              <a:spcAft>
                <a:spcPts val="300"/>
              </a:spcAft>
            </a:pPr>
            <a:r>
              <a:rPr sz="1200" b="0">
                <a:solidFill>
                  <a:srgbClr val="5B6372"/>
                </a:solidFill>
                <a:latin typeface="Arial"/>
              </a:rPr>
              <a:t>Identity and palette tokens to keep, plus explicit must-avoid elements.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OBSERVABILITY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Release Evidence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Identity</a:t>
            </a:r>
          </a:p>
          <a:p>
            <a:pPr algn="l">
              <a:spcAft>
                <a:spcPts val="300"/>
              </a:spcAft>
            </a:pPr>
            <a:r>
              <a:rPr sz="1200" b="0">
                <a:solidFill>
                  <a:srgbClr val="5B6372"/>
                </a:solidFill>
                <a:latin typeface="Arial"/>
              </a:rPr>
              <a:t>Run ID, plan hash, master hash, asset version, and idempotency key.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Actions</a:t>
            </a:r>
          </a:p>
          <a:p>
            <a:pPr algn="l">
              <a:spcAft>
                <a:spcPts val="300"/>
              </a:spcAft>
            </a:pPr>
            <a:r>
              <a:rPr sz="1200" b="0">
                <a:solidFill>
                  <a:srgbClr val="5B6372"/>
                </a:solidFill>
                <a:latin typeface="Arial"/>
              </a:rPr>
              <a:t>Tool or skill name, input reference, output reference, status, and error.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Controls</a:t>
            </a:r>
          </a:p>
          <a:p>
            <a:pPr algn="l">
              <a:spcAft>
                <a:spcPts val="300"/>
              </a:spcAft>
            </a:pPr>
            <a:r>
              <a:rPr sz="1200" b="0">
                <a:solidFill>
                  <a:srgbClr val="5B6372"/>
                </a:solidFill>
                <a:latin typeface="Arial"/>
              </a:rPr>
              <a:t>Probe result, finding ID, approval hash, reviewer, and decision.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Resources</a:t>
            </a:r>
          </a:p>
          <a:p>
            <a:pPr algn="l">
              <a:spcAft>
                <a:spcPts val="300"/>
              </a:spcAft>
            </a:pPr>
            <a:r>
              <a:rPr sz="1200" b="0">
                <a:solidFill>
                  <a:srgbClr val="5B6372"/>
                </a:solidFill>
                <a:latin typeface="Arial"/>
              </a:rPr>
              <a:t>Attempts, latency, estimated cost, and budget variance.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Hermes Agent Setup, MiniMax M3 and Video Prompt Engineering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Hermes Desktop runtime | MiniMax M3 provider contract | FRAME-CUT prompting | Structured shot plans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Day 1 morning and early afternoon | 3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Hermes Agent Setup, MiniMax M3 and Video Prompt Engineering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Runtime boundary</a:t>
            </a:r>
          </a:p>
          <a:p>
            <a:pPr algn="l">
              <a:spcAft>
                <a:spcPts val="300"/>
              </a:spcAft>
            </a:pPr>
            <a:r>
              <a:rPr sz="1200" b="0">
                <a:solidFill>
                  <a:srgbClr val="5B6372"/>
                </a:solidFill>
                <a:latin typeface="Arial"/>
              </a:rPr>
              <a:t>The installed Hermes surface, its profile, configuration path and skill root that every run depends 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Provider contract</a:t>
            </a:r>
          </a:p>
          <a:p>
            <a:pPr algn="l">
              <a:spcAft>
                <a:spcPts val="300"/>
              </a:spcAft>
            </a:pPr>
            <a:r>
              <a:rPr sz="1200" b="0">
                <a:solidFill>
                  <a:srgbClr val="5B6372"/>
                </a:solidFill>
                <a:latin typeface="Arial"/>
              </a:rPr>
              <a:t>The named provider, base URL, model identifier and credential reference used for reasoning.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FRAME-CUT</a:t>
            </a:r>
          </a:p>
          <a:p>
            <a:pPr algn="l">
              <a:spcAft>
                <a:spcPts val="300"/>
              </a:spcAft>
            </a:pPr>
            <a:r>
              <a:rPr sz="1200" b="0">
                <a:solidFill>
                  <a:srgbClr val="5B6372"/>
                </a:solidFill>
                <a:latin typeface="Arial"/>
              </a:rPr>
              <a:t>A prompt contract covering Format, Role, Action, Motion, Environment plus Continuity, Unwanted and Technical output.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Shot plan</a:t>
            </a:r>
          </a:p>
          <a:p>
            <a:pPr algn="l">
              <a:spcAft>
                <a:spcPts val="300"/>
              </a:spcAft>
            </a:pPr>
            <a:r>
              <a:rPr sz="1200" b="0">
                <a:solidFill>
                  <a:srgbClr val="5B6372"/>
                </a:solidFill>
                <a:latin typeface="Arial"/>
              </a:rPr>
              <a:t>Strict JSON of timed shots whose durations total the approved target with no gaps or overlaps.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Hermes Desktop Runtime and Shared CLI State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Hermes Agent runs as a desktop application with a matching command-line surface. Both read the same profile, configuration path and skill directory, so a change made in one surface is visible to the other. Installation is completed from the official desktop page, after which a diagnostic command reports the health of each required dependency. The runtime boundary is the set of facts that define where the agent executes: platform, installer source, version, active profile, configuration path and skill root.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 agent that cannot describe its own runtime cannot produce reproducible work. If the desktop and the terminal disagree about the active provider or skill directory, a lab that passes in one surface fails in the other for reasons that look like model behaviour. Recording the runtime boundary before any production work converts a class of confusing failures into a single observable check, and a failed dependency becomes a reason to stop rather than a problem to discover halfway through a render.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Hermes Desktop Runtime and Shared CLI State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installer from the official Hermes desktop page and confirm the platform build.</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Complete setup, then run the diagnostic command and read every reported dependency.</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desktop profile and note the configuration path and skill root.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terminal and compare provider, model and skill directory against the desktop.</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Stop and repair when a required diagnostic fails; do not continue into production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Hermes Desktop Runtime and Shared CLI State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hermes doctor reports all required dependencies healthy on a supported platform.</a:t>
            </a:r>
          </a:p>
          <a:p>
            <a:pPr>
              <a:spcAft>
                <a:spcPts val="1000"/>
              </a:spcAft>
            </a:pPr>
            <a:r>
              <a:rPr sz="1600" b="0">
                <a:solidFill>
                  <a:srgbClr val="161B26"/>
                </a:solidFill>
                <a:latin typeface="Arial"/>
              </a:rPr>
              <a:t>•  The desktop profile and the CLI session report the same provider, model and skill root.</a:t>
            </a:r>
          </a:p>
          <a:p>
            <a:pPr>
              <a:spcAft>
                <a:spcPts val="1000"/>
              </a:spcAft>
            </a:pPr>
            <a:r>
              <a:rPr sz="1600" b="0">
                <a:solidFill>
                  <a:srgbClr val="161B26"/>
                </a:solidFill>
                <a:latin typeface="Arial"/>
              </a:rPr>
              <a:t>•  setup-evidence.json records the official source, version and diagnostic status with no credential value.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new machine, a new learner account or a fresh profile is being prepared for production work.</a:t>
            </a:r>
          </a:p>
          <a:p>
            <a:pPr>
              <a:spcAft>
                <a:spcPts val="1000"/>
              </a:spcAft>
            </a:pPr>
            <a:r>
              <a:rPr sz="1400" b="0">
                <a:solidFill>
                  <a:srgbClr val="5B6372"/>
                </a:solidFill>
                <a:latin typeface="Arial"/>
              </a:rPr>
              <a:t>–  Results differ between the desktop and the terminal and the cause is not yet known.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required diagnostic fails and the failure has not been repaired or recorded.</a:t>
            </a:r>
          </a:p>
          <a:p>
            <a:pPr>
              <a:spcAft>
                <a:spcPts val="1000"/>
              </a:spcAft>
            </a:pPr>
            <a:r>
              <a:rPr sz="1400" b="0">
                <a:solidFill>
                  <a:srgbClr val="5B6372"/>
                </a:solidFill>
                <a:latin typeface="Arial"/>
              </a:rPr>
              <a:t>–  The installer came from an unofficial mirror or the platform build is unverified.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Hermes Desktop Runtime and Shared CLI State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same prompt behaves differently in the desktop and the terminal.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Name the active profile and compare provider, model and skill directory across both surfaces.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profile-check.json shows matching settings and the diagnostic reports no blocking failure.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MiniMax M3 Provider, Trial Terms and Credential Isolation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provider contract names the service, base URL, model identifier and a reference to a stored credential. This course configures provider minimax with model MiniMax-M3 and verifies a tool-capable response before any production run. Trial availability, duration, quota and region terms are time-sensitive commercial terms rather than fixed course facts, so they are observed live at sign-up and recorded with a date. Credentials live in Hermes credential or configuration storage and are referenced by name; published evidence carries placeholders only.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model handshake that is assumed rather than verified is the most common cause of a lab that fails much later, at the point of an expensive call. Verifying the returned model identifier proves that the configured model is the model actually answering. Separating the credential from the evidence keeps the lab package publishable: a secret that never enters a prompt, file, screenshot or repository cannot be leaked by one of them. Recording trial terms with a date and a fallback model means a changed offer becomes a planned decision rather than a blocked class.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MiniMax M3 Provider, Trial Terms and Credential Isolation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the account and an API key, then store the key in credential storage and reference it by name.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Configure provider minimax with model MiniMax-M3 and confirm the returned model identifier.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live offer, read the current terms and record what was seen, the date and the expiry.</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Reserve a quota budget and nominate a fallback model before production work begins.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Scan the lab package and confirm zero live tokens before publishing any evidence.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MiniMax M3 Provider, Trial Terms and Credential Isolation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model-check.json records MiniMax-M3 and a successful tool-capable response without recording the key.</a:t>
            </a:r>
          </a:p>
          <a:p>
            <a:pPr>
              <a:spcAft>
                <a:spcPts val="1000"/>
              </a:spcAft>
            </a:pPr>
            <a:r>
              <a:rPr sz="1600" b="0">
                <a:solidFill>
                  <a:srgbClr val="161B26"/>
                </a:solidFill>
                <a:latin typeface="Arial"/>
              </a:rPr>
              <a:t>•  trial-checklist.md contains the observed terms, the date seen and the learner's fallback decision.</a:t>
            </a:r>
          </a:p>
          <a:p>
            <a:pPr>
              <a:spcAft>
                <a:spcPts val="1000"/>
              </a:spcAft>
            </a:pPr>
            <a:r>
              <a:rPr sz="1600" b="0">
                <a:solidFill>
                  <a:srgbClr val="161B26"/>
                </a:solidFill>
                <a:latin typeface="Arial"/>
              </a:rPr>
              <a:t>•  A secret scan over the lab package reports no live token pattern.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provider or model is being configured for the first time, or a key has been rotated.</a:t>
            </a:r>
          </a:p>
          <a:p>
            <a:pPr>
              <a:spcAft>
                <a:spcPts val="1000"/>
              </a:spcAft>
            </a:pPr>
            <a:r>
              <a:rPr sz="1400" b="0">
                <a:solidFill>
                  <a:srgbClr val="5B6372"/>
                </a:solidFill>
                <a:latin typeface="Arial"/>
              </a:rPr>
              <a:t>–  Quota, billing or region terms materially affect how much generation the run can afford.</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returned model identifier does not match the configured model.</a:t>
            </a:r>
          </a:p>
          <a:p>
            <a:pPr>
              <a:spcAft>
                <a:spcPts val="1000"/>
              </a:spcAft>
            </a:pPr>
            <a:r>
              <a:rPr sz="1400" b="0">
                <a:solidFill>
                  <a:srgbClr val="5B6372"/>
                </a:solidFill>
                <a:latin typeface="Arial"/>
              </a:rPr>
              <a:t>–  A key would have to be pasted into a prompt, lab file, screenshot or repository to proceed.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MiniMax M3 Provider, Trial Terms and Credential Isolation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session answers but reports a different model than the one configured.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Start a new session after selecting the model; an existing session can retain its original model.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budget-ledger.csv reconciles attempts, latency and cost against the approved ceiling.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FRAME-CUT Video Prompt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FRAME-CUT is the prompt contract used throughout this course. FRAME fixes Format and finish, Role and references, Action, Motion and Environment. CUT fixes Continuity tokens, Unwanted elements as explicit negative constraints, and the Technical output schema. A compliant prompt names one dominant subject action and one camera move per timed shot, states the palette and identity tokens that must persist, lists what must never appear, and requires strict JSON that can be validated before anything is generated.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vague creative request such as 'make it cinematic' leaves the model to invent the channel, duration, subject, camera language and acceptance rule, and every regeneration invents them differently. A field-complete contract makes shots comparable across attempts, makes drift observable against named invariants, and makes the output checkable by a validator rather than by opinion. Because the contract is validated before generation, a defective plan costs a schema error instead of a paid render.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The FRAME-CUT Video Prompt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Choose the channel, then freeze duration, aspect ratio and delivery codec before any shot work.</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Assign the role, attach the brief and register the source and asset identifiers that reasoning may use.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Write one dominant action and one camera move for each timed shot.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Lock continuity tokens and palette values, then list the must-avoid elements explicitly.</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Require strict JSON and fail the plan on gaps, overlaps, unknown fields or a duration mismatch.</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The FRAME-CUT Video Prompt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15-second brief becomes a shot plan whose shot durations total exactly 15 seconds with no overlap.</a:t>
            </a:r>
          </a:p>
          <a:p>
            <a:pPr>
              <a:spcAft>
                <a:spcPts val="1000"/>
              </a:spcAft>
            </a:pPr>
            <a:r>
              <a:rPr sz="1600" b="0">
                <a:solidFill>
                  <a:srgbClr val="161B26"/>
                </a:solidFill>
                <a:latin typeface="Arial"/>
              </a:rPr>
              <a:t>•  Each shot carries one action-motion pair, a continuity token and an explicit must-avoid list.</a:t>
            </a:r>
          </a:p>
          <a:p>
            <a:pPr>
              <a:spcAft>
                <a:spcPts val="1000"/>
              </a:spcAft>
            </a:pPr>
            <a:r>
              <a:rPr sz="1600" b="0">
                <a:solidFill>
                  <a:srgbClr val="161B26"/>
                </a:solidFill>
                <a:latin typeface="Arial"/>
              </a:rPr>
              <a:t>•  prompt-contract.json passes the schema and duration checks before a renderer is called.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creative intent must survive several regenerations or be handed to another agent or tool.</a:t>
            </a:r>
          </a:p>
          <a:p>
            <a:pPr>
              <a:spcAft>
                <a:spcPts val="1000"/>
              </a:spcAft>
            </a:pPr>
            <a:r>
              <a:rPr sz="1400" b="0">
                <a:solidFill>
                  <a:srgbClr val="5B6372"/>
                </a:solidFill>
                <a:latin typeface="Arial"/>
              </a:rPr>
              <a:t>–  The output will feed a deterministic renderer that requires named, typed fields.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request asks for imitation of a living artist or a named creator's identity.</a:t>
            </a:r>
          </a:p>
          <a:p>
            <a:pPr>
              <a:spcAft>
                <a:spcPts val="1000"/>
              </a:spcAft>
            </a:pPr>
            <a:r>
              <a:rPr sz="1400" b="0">
                <a:solidFill>
                  <a:srgbClr val="5B6372"/>
                </a:solidFill>
                <a:latin typeface="Arial"/>
              </a:rPr>
              <a:t>–  The delivery format is still unsettled, so shot work would be rebuilt after the format changes.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The FRAME-CUT Video Prompt Contract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Shots look plausible individually but identity, palette or screen direction drifts between them.</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Reuse the continuity token and compare keyframes against the explicit invariant list.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continuity-review.json records each deviation and the acceptance decision.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The Simple Video Agent Loop with Cost and Stop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agent loop receives a brief, plans shots, calls one tool, inspects the returned artifact and then stops or escalates. Its controls are numeric: an estimated cost, a maximum number of attempts, a timeout and a recorded stop reason. A run ledger links the run identifier, the plan hash, each tool call and each result so that the run can be reconstructed after the fact. The default posture is one render attempt, one review pass and an explicit repair decision rather than open-ended retrying.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Generation costs money and time, and an unbounded loop spends both without converging. Capping attempts converts a runaway loop into a decision that reaches a named person with the evidence already assembled. Recording the stop reason matters as much as recording success: a run that stopped because a dependency failed is a different operational fact from one that stopped because the budget ceiling was reached, and the two require different repairs.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The Simple Video Agent Loop with Cost and Stop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Estimate the number of calls and the cost before the first paid action.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Set the maximum attempts, the timeout and the budget ceiling as explicit numbers.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the loop: receive the brief, plan the shots, call one tool, inspect the result.</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Stop at the cap and record the stop reason rather than attempting another generation.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Require a human decision before any additional paid generation is authorised.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The Simple Video Agent Loop with Cost and Stop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run-ledger.json contains the plan, the tool call, the result reference and the stop reason.</a:t>
            </a:r>
          </a:p>
          <a:p>
            <a:pPr>
              <a:spcAft>
                <a:spcPts val="1000"/>
              </a:spcAft>
            </a:pPr>
            <a:r>
              <a:rPr sz="1600" b="0">
                <a:solidFill>
                  <a:srgbClr val="161B26"/>
                </a:solidFill>
                <a:latin typeface="Arial"/>
              </a:rPr>
              <a:t>•  A 15-second preview is produced in one render attempt and probed before it is accepted.</a:t>
            </a:r>
          </a:p>
          <a:p>
            <a:pPr>
              <a:spcAft>
                <a:spcPts val="1000"/>
              </a:spcAft>
            </a:pPr>
            <a:r>
              <a:rPr sz="1600" b="0">
                <a:solidFill>
                  <a:srgbClr val="161B26"/>
                </a:solidFill>
                <a:latin typeface="Arial"/>
              </a:rPr>
              <a:t>•  A second paid attempt is not started automatically; it is escalated with the evidence attached.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Work involves paid generation, external calls or any action with a real cost.</a:t>
            </a:r>
          </a:p>
          <a:p>
            <a:pPr>
              <a:spcAft>
                <a:spcPts val="1000"/>
              </a:spcAft>
            </a:pPr>
            <a:r>
              <a:rPr sz="1400" b="0">
                <a:solidFill>
                  <a:srgbClr val="5B6372"/>
                </a:solidFill>
                <a:latin typeface="Arial"/>
              </a:rPr>
              <a:t>–  A run must be explainable later to a reviewer who was not present when it executed.</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Attempts, timeouts and budget have not been given numeric limits.</a:t>
            </a:r>
          </a:p>
          <a:p>
            <a:pPr>
              <a:spcAft>
                <a:spcPts val="1000"/>
              </a:spcAft>
            </a:pPr>
            <a:r>
              <a:rPr sz="1400" b="0">
                <a:solidFill>
                  <a:srgbClr val="5B6372"/>
                </a:solidFill>
                <a:latin typeface="Arial"/>
              </a:rPr>
              <a:t>–  The loop can start another paid generation without a recorded human decision.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The Simple Video Agent Loop with Cost and Stop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loop keeps regenerating without reaching a defined finish state.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Cap attempts, add an explicit finish condition and route the remainder to a named owner.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ledger shows one committed result per run identifier and a recorded stop reason.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Hermes Agent Setup, MiniMax M3 and Video Prompt Engineering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Set Up Hermes Desktop and Connect MiniMax M3</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Prompt Hermes to Create a Simple Video</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3</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Engineer Video Prompts with FRAME-CUT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Hermes Desktop and Connect MiniMax M3</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install Hermes Desktop from the official source, configure the MiniMax provider for MiniMax-M3, run the diagnostic command, compare the desktop and CLI state, and record the live trial terms you actually see. Every piece of published evidence carries placeholders instead of secrets.</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A setup-evidence.json recording the official source, version and diagnostic status, plus a redacted diagnostic screenshot.</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Download the official installer</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Complete Hermes setup</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Configure MiniMax-M3</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Run hermes doctor</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Hermes Desktop, Hermes CLI, MiniMax M3, credential storage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Hermes Desktop and Connect MiniMax M3</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verify.py must print PASS Lab 01. Hermes launches, the configured provider is minimax, the model is MiniMax-M3, hermes doctor reports no blocking failure, and the published evidence contains placeholders only.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Prompt Hermes to Create a Simple 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use a copy-ready Hermes prompt to turn a supplied 15-second brief into a strict-JSON shot plan, validate that the plan totals the target duration with no gaps or overlaps, run the deterministic preview renderer and probe the resulting MP4.</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800" b="1">
                <a:solidFill>
                  <a:srgbClr val="161B26"/>
                </a:solidFill>
                <a:latin typeface="Arial"/>
              </a:rPr>
              <a:t>A simple-video.mp4 with its shot-plan.json and ffprobe.json evidence.</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Open the project folder</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Submit the bounded prompt</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Validate the shot plan</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Run the preview renderer</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Hermes Desktop, MiniMax M3, Python preview renderer, FFprobe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Prompt Hermes to Create a Simple Video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verify.py must print PASS Lab 02. The shot plan is valid JSON, totals 15 seconds, uses only supplied assets, and the generated MP4 passes the dimensions, codec and duration checks.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Engineer Video Prompts with FRAME-CUT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diagnose a deliberately vague prompt, complete every FRAME field and every CUT field, generate strict shot JSON, score the result against a deterministic rubric and repair the single highest-severity defect.</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800" b="1">
                <a:solidFill>
                  <a:srgbClr val="161B26"/>
                </a:solidFill>
                <a:latin typeface="Arial"/>
              </a:rPr>
              <a:t>A prompt-pack.json with its prompt-score.csv rubric evidence.</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Diagnose the vague prompt</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Complete the FRAME fields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Complete the CUT fields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Generate the shot JSON</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Hermes Desktop, MiniMax M3, FRAME-CUT template, scoring rubric</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Engineer Video Prompts with FRAME-CUT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verify.py must print PASS Lab 03. Every shot carries all FRAME-CUT fields, one dominant action, one camera move, explicit continuity and negative constraints, and a measurable output check.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Hermes Agent Setup, MiniMax M3 and Video Prompt Engineering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LO1: configure the Hermes runtime and prove a tool-capable MiniMax M3 handshake without exposing a credential</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LO1: convert a bounded brief into a validated shot plan and a deterministically rendered preview</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LO1: apply the FRAME-CUT contract to make creative intent portable, comparable and checkable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Video Tools, Hermes Skills and Custom Brand Production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Tool versus skill | Remotion, Manim and FFmpeg | Brand tokens | Technical quality gate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Day 1 late afternoon and Day 2 morning | 2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Video Tools, Hermes Skills and Custom Brand Production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Tool versus skill</a:t>
            </a:r>
          </a:p>
          <a:p>
            <a:pPr algn="l">
              <a:spcAft>
                <a:spcPts val="300"/>
              </a:spcAft>
            </a:pPr>
            <a:r>
              <a:rPr sz="1200" b="0">
                <a:solidFill>
                  <a:srgbClr val="5B6372"/>
                </a:solidFill>
                <a:latin typeface="Arial"/>
              </a:rPr>
              <a:t>A tool performs precise integrated execution; a skill packages repeatable instructions plus scripts.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Skill anatomy</a:t>
            </a:r>
          </a:p>
          <a:p>
            <a:pPr algn="l">
              <a:spcAft>
                <a:spcPts val="300"/>
              </a:spcAft>
            </a:pPr>
            <a:r>
              <a:rPr sz="1200" b="0">
                <a:solidFill>
                  <a:srgbClr val="5B6372"/>
                </a:solidFill>
                <a:latin typeface="Arial"/>
              </a:rPr>
              <a:t>A directory holding SKILL.md with frontmatter, a procedure, bundled scripts and verification commands.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Brand token</a:t>
            </a:r>
          </a:p>
          <a:p>
            <a:pPr algn="l">
              <a:spcAft>
                <a:spcPts val="300"/>
              </a:spcAft>
            </a:pPr>
            <a:r>
              <a:rPr sz="1200" b="0">
                <a:solidFill>
                  <a:srgbClr val="5B6372"/>
                </a:solidFill>
                <a:latin typeface="Arial"/>
              </a:rPr>
              <a:t>A stored, editable value for logo, palette, typography or motion referenced by the video skill.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Quality gate</a:t>
            </a:r>
          </a:p>
          <a:p>
            <a:pPr algn="l">
              <a:spcAft>
                <a:spcPts val="300"/>
              </a:spcAft>
            </a:pPr>
            <a:r>
              <a:rPr sz="1200" b="0">
                <a:solidFill>
                  <a:srgbClr val="5B6372"/>
                </a:solidFill>
                <a:latin typeface="Arial"/>
              </a:rPr>
              <a:t>A fail-closed technical check on container, streams, dimensions, frame rate, duration and captions.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Choosing Between a Tool and a Hermes Skill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tool is the right choice when a capability needs precise, integrated execution with its own authentication and error handling. A skill is the right choice when a procedure must be repeated reliably: it bundles instructions, scripts and templates in a directory containing SKILL.md, whose frontmatter declares the name, description and version. Hermes discovers skills by searching the catalogue, then loads the selected skill and only the resources it references, so context stays proportionate to the task.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Wrapping everything as a skill produces brittle prose where an integration was needed; wrapping everything as a tool produces unrepeatable one-off calls where a documented procedure was needed. Deciding explicitly, and recording why, keeps the production stack legible to the next person. Progressive loading matters for the same reason: a skill that pulls its entire reference tree into context on every invocation crowds out the working material the task actually needs.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Choosing Between a Tool and a Hermes Skill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Identify the capability and its authentication mode, then decide tool or skill and name an owner.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the skill directory and write frontmatter that describes the exact trigger.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Add the procedure, bundle the scripts and include deterministic verification commands.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Search the catalogue first, then view the selected skill and load only referenced resources.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Test invocation and confirm the expected artifacts are produced.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Choosing Between a Tool and a Hermes Skill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decision-record.md states why each capability was implemented as a tool or as a skill.</a:t>
            </a:r>
          </a:p>
          <a:p>
            <a:pPr>
              <a:spcAft>
                <a:spcPts val="1000"/>
              </a:spcAft>
            </a:pPr>
            <a:r>
              <a:rPr sz="1600" b="0">
                <a:solidFill>
                  <a:srgbClr val="161B26"/>
                </a:solidFill>
                <a:latin typeface="Arial"/>
              </a:rPr>
              <a:t>•  SKILL.md and a test transcript together show correct activation from the intended trigger.</a:t>
            </a:r>
          </a:p>
          <a:p>
            <a:pPr>
              <a:spcAft>
                <a:spcPts val="1000"/>
              </a:spcAft>
            </a:pPr>
            <a:r>
              <a:rPr sz="1600" b="0">
                <a:solidFill>
                  <a:srgbClr val="161B26"/>
                </a:solidFill>
                <a:latin typeface="Arial"/>
              </a:rPr>
              <a:t>•  skill-usage.json records the selected skill and the resources that were loaded.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procedure will be repeated across runs, learners or courses and must behave the same way each time.</a:t>
            </a:r>
          </a:p>
          <a:p>
            <a:pPr>
              <a:spcAft>
                <a:spcPts val="1000"/>
              </a:spcAft>
            </a:pPr>
            <a:r>
              <a:rPr sz="1400" b="0">
                <a:solidFill>
                  <a:srgbClr val="5B6372"/>
                </a:solidFill>
                <a:latin typeface="Arial"/>
              </a:rPr>
              <a:t>–  The capability needs bundled scripts and templates alongside its instructions.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single ad-hoc call would do and no repetition is expected.</a:t>
            </a:r>
          </a:p>
          <a:p>
            <a:pPr>
              <a:spcAft>
                <a:spcPts val="1000"/>
              </a:spcAft>
            </a:pPr>
            <a:r>
              <a:rPr sz="1400" b="0">
                <a:solidFill>
                  <a:srgbClr val="5B6372"/>
                </a:solidFill>
                <a:latin typeface="Arial"/>
              </a:rPr>
              <a:t>–  The capability requires integrated authentication and precise error handling better served by a tool.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Choosing Between a Tool and a Hermes Skill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skill is not discovered when its trigger phrase is used.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Check the YAML frontmatter, the directory name and the SKILL.md filename, then restart discovery.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Repeated runs of the skill produce matching outputs from a clean start.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Routing Remotion, Manim, Higgsfield and FFmpeg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Each media tool has a distinct contract. Remotion renders code-driven compositions where duration in frames divided by frames per second gives the duration in seconds. Manim renders programmatic explanatory scenes whose labels and values are bound to an approved evidence model. A Higgsfield-compatible request selects a model, attaches references and writes a motion prompt, and is prepared as a preview before any account or quota is consumed. FFmpeg performs deterministic assembly: normalise every source, build the timeline, mix audio and encode the master.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Routing a task to a tool that cannot satisfy its contract is the most expensive category of error in a video pipeline, because the cost is usually discovered after generation. Deriving frames from duration rather than guessing prevents a composition that is silently the wrong length. Normalising sources before concatenation prevents the class of failures where clips join but the container reports inconsistent streams. Preparing a generation request as a preview keeps an unapproved asset or an exhausted quota from becoming a failed paid call.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Routing Remotion, Manim, Higgsfield and FFmpeg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Classify the task, check the required modality and route it to a capable tool.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For Remotion, derive duration frames from the approved duration and validate width, height, fps and codec after render.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For Manim, bind labels and values to the approved evidence model and review the rendered frames.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For a Higgsfield request, build a request preview first and call the service only with approved assets and quota.</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For FFmpeg, normalise every source before concatenation and probe the final container.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Routing Remotion, Manim, Higgsfield and FFmpeg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tool-routing.csv links every task to a capable model or tool with a recorded fallback.</a:t>
            </a:r>
          </a:p>
          <a:p>
            <a:pPr>
              <a:spcAft>
                <a:spcPts val="1000"/>
              </a:spcAft>
            </a:pPr>
            <a:r>
              <a:rPr sz="1600" b="0">
                <a:solidFill>
                  <a:srgbClr val="161B26"/>
                </a:solidFill>
                <a:latin typeface="Arial"/>
              </a:rPr>
              <a:t>•  remotion-render.json and ffprobe.json agree with the composition contract.</a:t>
            </a:r>
          </a:p>
          <a:p>
            <a:pPr>
              <a:spcAft>
                <a:spcPts val="1000"/>
              </a:spcAft>
            </a:pPr>
            <a:r>
              <a:rPr sz="1600" b="0">
                <a:solidFill>
                  <a:srgbClr val="161B26"/>
                </a:solidFill>
                <a:latin typeface="Arial"/>
              </a:rPr>
              <a:t>•  ffprobe.json confirms H.264 video, AAC audio, the expected dimensions, frame rate and duration.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media task has a clear modality and an approved tool exists for it.</a:t>
            </a:r>
          </a:p>
          <a:p>
            <a:pPr>
              <a:spcAft>
                <a:spcPts val="1000"/>
              </a:spcAft>
            </a:pPr>
            <a:r>
              <a:rPr sz="1400" b="0">
                <a:solidFill>
                  <a:srgbClr val="5B6372"/>
                </a:solidFill>
                <a:latin typeface="Arial"/>
              </a:rPr>
              <a:t>–  The output must be verified deterministically rather than accepted on appearance.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required assets are unapproved or the account quota has not been confirmed.</a:t>
            </a:r>
          </a:p>
          <a:p>
            <a:pPr>
              <a:spcAft>
                <a:spcPts val="1000"/>
              </a:spcAft>
            </a:pPr>
            <a:r>
              <a:rPr sz="1400" b="0">
                <a:solidFill>
                  <a:srgbClr val="5B6372"/>
                </a:solidFill>
                <a:latin typeface="Arial"/>
              </a:rPr>
              <a:t>–  A deterministic renderer would produce the result more reliably than a generative call.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Routing Remotion, Manim, Higgsfield and FFmpeg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Clips concatenate but the final container reports inconsistent streams or the wrong duration.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Normalise every source to the same codec, dimensions and frame rate before rebuilding the timeline.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probe of the final master matches the approved delivery specification field for field.</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Brand Tokens, Tone and the Custom Video Skill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brand token system stores the logo reference, palette values, font stack and motion rules as editable values that the video skill references rather than hard-codes. Tone and style controls describe the audience, the voice, the pacing in words per minute and an explicit list of stylistic exclusions. The custom brand-video skill combines these: it bundles scripts and templates, declares its inputs and outputs, and ships an acceptance test so that repeated runs can be compared rather than merely rerun.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Brand rules written into prose drift as soon as two people apply them. Stored as tokens and referenced from a skill, they become checkable: a frame either uses the approved palette value or it does not. Describing tone through attributes and exclusions, rather than by naming a living artist to imitate, keeps the output original and defensible. An acceptance test converts 'the skill works' into a repeatable comparison between a clean run and the expected artifacts.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Brand Tokens, Tone and the Custom Video Skill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Extract the identity, then set the palette, typography and motion rules as stored tokens.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the audience, voice and pacing, and write the style exclusions explicitly.</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Write the skill, bundle its scripts and bind its templates using relative or Hermes template paths.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Render the video through the skill and review the frame samples against the checklist.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the acceptance test from a clean start and version the resulting evidence.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Brand Tokens, Tone and the Custom Video Skill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brand-profile.yaml holds editable tokens and the frame samples pass the brand checklist.</a:t>
            </a:r>
          </a:p>
          <a:p>
            <a:pPr>
              <a:spcAft>
                <a:spcPts val="1000"/>
              </a:spcAft>
            </a:pPr>
            <a:r>
              <a:rPr sz="1600" b="0">
                <a:solidFill>
                  <a:srgbClr val="161B26"/>
                </a:solidFill>
                <a:latin typeface="Arial"/>
              </a:rPr>
              <a:t>•  The custom skill is discoverable, produces an MP4 and passes the technical probe.</a:t>
            </a:r>
          </a:p>
          <a:p>
            <a:pPr>
              <a:spcAft>
                <a:spcPts val="1000"/>
              </a:spcAft>
            </a:pPr>
            <a:r>
              <a:rPr sz="1600" b="0">
                <a:solidFill>
                  <a:srgbClr val="161B26"/>
                </a:solidFill>
                <a:latin typeface="Arial"/>
              </a:rPr>
              <a:t>•  A repeat run from a clean state produces matching outputs and the same evidence artifacts.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same brand treatment must be applied across many videos or by several people.</a:t>
            </a:r>
          </a:p>
          <a:p>
            <a:pPr>
              <a:spcAft>
                <a:spcPts val="1000"/>
              </a:spcAft>
            </a:pPr>
            <a:r>
              <a:rPr sz="1400" b="0">
                <a:solidFill>
                  <a:srgbClr val="5B6372"/>
                </a:solidFill>
                <a:latin typeface="Arial"/>
              </a:rPr>
              <a:t>–  Brand compliance needs to be demonstrated rather than asserted.</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style brief asks for imitation of a living artist or a specific creator's identity.</a:t>
            </a:r>
          </a:p>
          <a:p>
            <a:pPr>
              <a:spcAft>
                <a:spcPts val="1000"/>
              </a:spcAft>
            </a:pPr>
            <a:r>
              <a:rPr sz="1400" b="0">
                <a:solidFill>
                  <a:srgbClr val="5B6372"/>
                </a:solidFill>
                <a:latin typeface="Arial"/>
              </a:rPr>
              <a:t>–  Brand values are still changing, so tokens would be rewritten immediately after use.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Brand Tokens, Tone and the Custom Video Skill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Two runs of the same skill produce visibly different brand treatment.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Move the varying value into a stored token and reference it from the skill.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brand-review.json records the passed checks against the applicable brand tokens.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The Technical Quality Gate, Provenance and Repair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quality gate probes the container, inspects representative frames, checks that captions are readable and then either passes or fails the master. It fails closed: a missing stream, an out-of-bounds dimension or an unreadable caption blocks the master rather than producing a warning. Provenance runs alongside it — every asset is registered with its source, licence and a SHA-256 hash, so approval binds to an immutable version. A finding opens a repair, the repair renders a new version, and every affected check is rerun against that new version.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video that looks correct in a player can still be technically invalid for the destination platform, and the failure surfaces at upload rather than in review. Deterministic probing catches that class of defect while it is still cheap to fix. Binding approval to a hash prevents the most damaging version-control error in a release pipeline: approving one master and shipping another. Re-testing the affected scope after a repair is what stops a fix in one place from silently breaking another.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The Technical Quality Gate, Provenance and Repair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Probe the container and record the observed width, height, average frame rate and duration.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Inspect frames and confirm captions are present and readable.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Register each asset with its source, rights status and SHA-256 hash.</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a finding with its severity, assign the repair and render a new immutable version.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Rerun every affected check against the new version and record the outcome.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The Technical Quality Gate, Provenance and Repair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technical-qc.json and the contact sheet show the observed values against the required bounds.</a:t>
            </a:r>
          </a:p>
          <a:p>
            <a:pPr>
              <a:spcAft>
                <a:spcPts val="1000"/>
              </a:spcAft>
            </a:pPr>
            <a:r>
              <a:rPr sz="1600" b="0">
                <a:solidFill>
                  <a:srgbClr val="161B26"/>
                </a:solidFill>
                <a:latin typeface="Arial"/>
              </a:rPr>
              <a:t>•  asset-manifest.csv verifies rights status and hashes for every manifest row.</a:t>
            </a:r>
          </a:p>
          <a:p>
            <a:pPr>
              <a:spcAft>
                <a:spcPts val="1000"/>
              </a:spcAft>
            </a:pPr>
            <a:r>
              <a:rPr sz="1600" b="0">
                <a:solidFill>
                  <a:srgbClr val="161B26"/>
                </a:solidFill>
                <a:latin typeface="Arial"/>
              </a:rPr>
              <a:t>•  repair-log.json links the finding, the change, the new hash and the re-test result.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master is a candidate for release and must meet a declared delivery specification.</a:t>
            </a:r>
          </a:p>
          <a:p>
            <a:pPr>
              <a:spcAft>
                <a:spcPts val="1000"/>
              </a:spcAft>
            </a:pPr>
            <a:r>
              <a:rPr sz="1400" b="0">
                <a:solidFill>
                  <a:srgbClr val="5B6372"/>
                </a:solidFill>
                <a:latin typeface="Arial"/>
              </a:rPr>
              <a:t>–  Approval will be given now and acted on later, so the approved artifact must be identifiable.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delivery specification has not been agreed, so there is nothing to check against.</a:t>
            </a:r>
          </a:p>
          <a:p>
            <a:pPr>
              <a:spcAft>
                <a:spcPts val="1000"/>
              </a:spcAft>
            </a:pPr>
            <a:r>
              <a:rPr sz="1400" b="0">
                <a:solidFill>
                  <a:srgbClr val="5B6372"/>
                </a:solidFill>
                <a:latin typeface="Arial"/>
              </a:rPr>
              <a:t>–  A finding would be closed without re-testing the checks it affects.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The Technical Quality Gate, Provenance and Repair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repair closes one finding and reopens another that was previously passing.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Write a new immutable version and rerun the full affected scope rather than the single check.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Closed findings outnumber reopened findings and each closure names its re-test.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Video Tools, Hermes Skills and Custom Brand Production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Install Video Tools and Hermes Skills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a Custom Branded Video Skill</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Video Tools and Hermes 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inventory the local media tools, search the Hermes skill catalogue, install or create skills for Remotion, Manim, Higgsfield request preparation and FFmpeg verification, run a smoke test on each, and record the authentication mode, side effects and fallback for every entry in the registry.</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800" b="1">
                <a:solidFill>
                  <a:srgbClr val="161B26"/>
                </a:solidFill>
                <a:latin typeface="Arial"/>
              </a:rPr>
              <a:t>A tool-routing.json registry with skill-smoke-test.json evidence.</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Inventory the local tools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Search the Hermes skills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Install or create the skills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Run the smoke tests</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Hermes skills, Remotion, Manim, Higgsfield request preview, FFmpeg</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Install Video Tools and Hermes Skills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verify.py must print PASS Lab 04. The registry records capability, installation state, auth mode, side effects and fallback, and every supplied SKILL.md passes its frontmatter and path checks.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a Custom Branded Video Skill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approve a brand profile, write SKILL.md for a custom brand-video skill, bind its templates using relative or Hermes template paths, render a custom video through the skill, review the frame samples against the brand checklist and version the resulting evidence.</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800" b="1">
                <a:solidFill>
                  <a:srgbClr val="161B26"/>
                </a:solidFill>
                <a:latin typeface="Arial"/>
              </a:rPr>
              <a:t>A custom-video.mp4 with brand-review.json and render-evidence.json.</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Approve the brand profile</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Create SKILL.md</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Bind the templates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Render the video</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Hermes skills, brand token profile, Remotion or FFmpeg renderer, FFprobe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Create a Custom Branded Video Skill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verify.py must print PASS Lab 05. The custom skill is discoverable, uses relative or Hermes template paths, creates an MP4, passes the technical probe and meets every required brand token.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Video Tools, Hermes Skills and Custom Brand Production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LO2: build a governed tool registry and install learner-safe skills with recorded permissions and fallbacks</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You can now: LO2: package brand, tone and style rules into a reusable skill and verify the rendered output</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Multi-Agent Kanban, YouTube Release and Scheduled Publishing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Agent role contracts | Delegation and parallel work | Durable Kanban | Approval hash and cron release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COVERAGE Day 2 afternoon | 3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Multi-Agent Kanban, YouTube Release and Scheduled Publishing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Role contract</a:t>
            </a:r>
          </a:p>
          <a:p>
            <a:pPr algn="l">
              <a:spcAft>
                <a:spcPts val="300"/>
              </a:spcAft>
            </a:pPr>
            <a:r>
              <a:rPr sz="1200" b="0">
                <a:solidFill>
                  <a:srgbClr val="5B6372"/>
                </a:solidFill>
                <a:latin typeface="Arial"/>
              </a:rPr>
              <a:t>One agent, one owned deliverable, a bounded tool list and one measurable completion rule.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Delegation context</a:t>
            </a:r>
          </a:p>
          <a:p>
            <a:pPr algn="l">
              <a:spcAft>
                <a:spcPts val="300"/>
              </a:spcAft>
            </a:pPr>
            <a:r>
              <a:rPr sz="1200" b="0">
                <a:solidFill>
                  <a:srgbClr val="5B6372"/>
                </a:solidFill>
                <a:latin typeface="Arial"/>
              </a:rPr>
              <a:t>The exact goal, paths, inputs, constraints and acceptance tests handed to a child agent.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Durable Kanban</a:t>
            </a:r>
          </a:p>
          <a:p>
            <a:pPr algn="l">
              <a:spcAft>
                <a:spcPts val="300"/>
              </a:spcAft>
            </a:pPr>
            <a:r>
              <a:rPr sz="1200" b="0">
                <a:solidFill>
                  <a:srgbClr val="5B6372"/>
                </a:solidFill>
                <a:latin typeface="Arial"/>
              </a:rPr>
              <a:t>Task state and dependencies that survive restarts and deliberate human pauses.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Approval hash</a:t>
            </a:r>
          </a:p>
          <a:p>
            <a:pPr algn="l">
              <a:spcAft>
                <a:spcPts val="300"/>
              </a:spcAft>
            </a:pPr>
            <a:r>
              <a:rPr sz="1200" b="0">
                <a:solidFill>
                  <a:srgbClr val="5B6372"/>
                </a:solidFill>
                <a:latin typeface="Arial"/>
              </a:rPr>
              <a:t>A named decision bound to the immutable hash of the release package it authorises.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Agent Role Contracts and the Four Specialist Roles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Each agent receives a contract: a goal, a bounded list of allowed tools, one named deliverable and an explicit completion rule. This course uses four roles. The research agent reads the brief, retrieves sources, scores evidence and hands off claims with retrievable URLs and stated limitations. The video production agent consumes approved claims, creates the shot plan, invokes the brand skill and returns a master with its hash. The independent review agent inspects evidence against a rubric and creates timecoded findings. The upload agent verifies approval, builds metadata and uploads privately.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Roles without contracts drift into each other until no agent owns the outcome and two agents rewrite the same artifact. One deliverable per agent makes ownership unambiguous and makes a stalled pipeline diagnosable — the incomplete deliverable identifies the responsible role. The reviewer is deliberately denied approval authority: a reviewer that can approve its own findings provides no independent check, because the same assumptions that produced the work would clear it.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Agent Role Contracts and the Four Specialist Roles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the goal, limit the tools, name the deliverable and set the completion rule for each role.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Require the research agent to produce retrievable URLs, bounded excerpts and explicit limitations.</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Give the production agent immutable research input and require the custom brand-video skill.</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Run the reviewer in an independent context and withhold approval authority from that role.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Block the upload agent until every parent deliverable and the current approval hash pass.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Agent Role Contracts and the Four Specialist Roles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agent-contracts.yaml validates all four specialist roles against the required fields.</a:t>
            </a:r>
          </a:p>
          <a:p>
            <a:pPr>
              <a:spcAft>
                <a:spcPts val="1000"/>
              </a:spcAft>
            </a:pPr>
            <a:r>
              <a:rPr sz="1600" b="0">
                <a:solidFill>
                  <a:srgbClr val="161B26"/>
                </a:solidFill>
                <a:latin typeface="Arial"/>
              </a:rPr>
              <a:t>•  research-handoff.json contains approved sources and claim identifiers.</a:t>
            </a:r>
          </a:p>
          <a:p>
            <a:pPr>
              <a:spcAft>
                <a:spcPts val="1000"/>
              </a:spcAft>
            </a:pPr>
            <a:r>
              <a:rPr sz="1600" b="0">
                <a:solidFill>
                  <a:srgbClr val="161B26"/>
                </a:solidFill>
                <a:latin typeface="Arial"/>
              </a:rPr>
              <a:t>•  review-handoff.json contains timecoded findings and a QA status but no approval decision.</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Distinct roles have genuinely different tools, inputs or review criteria.</a:t>
            </a:r>
          </a:p>
          <a:p>
            <a:pPr>
              <a:spcAft>
                <a:spcPts val="1000"/>
              </a:spcAft>
            </a:pPr>
            <a:r>
              <a:rPr sz="1400" b="0">
                <a:solidFill>
                  <a:srgbClr val="5B6372"/>
                </a:solidFill>
                <a:latin typeface="Arial"/>
              </a:rPr>
              <a:t>–  An independent check is needed before a consequential external action.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One bounded prompt and one tool would complete the task more reliably.</a:t>
            </a:r>
          </a:p>
          <a:p>
            <a:pPr>
              <a:spcAft>
                <a:spcPts val="1000"/>
              </a:spcAft>
            </a:pPr>
            <a:r>
              <a:rPr sz="1400" b="0">
                <a:solidFill>
                  <a:srgbClr val="5B6372"/>
                </a:solidFill>
                <a:latin typeface="Arial"/>
              </a:rPr>
              <a:t>–  Agents would share unrestricted credentials or be able to overwrite accepted artifacts.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Agent Role Contracts and the Four Specialist Roles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Two agents disagree about which artifact is current.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Give each deliverable one owning role and one immutable version identifier.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Every factual claim in the output traces to a sourced claim identifier.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Delegation Context, Parallel Work and the Durable Kanban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delegation context packages the goal, the required context, the exact paths and the acceptance tests before a child agent is dispatched. Independent tasks may run in parallel, but the join happens only on explicit verified artifacts rather than on elapsed time. The Hermes Kanban makes this durable: tasks carry an assignee, a status and parent identifiers, and the board survives restarts and deliberate human pauses, which is what allows a production run to span a break, a review or an overnight wait.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child agent that receives a goal without paths, inputs and tests will produce something plausible that does not fit the pipeline, and the mismatch is usually discovered at the join. Parallelising dependent work is worse: it appears faster while silently skipping a dependency. A durable board is what separates a multi-agent workflow from a long single conversation — work that must survive a restart cannot live only in a session, and a paused human review is a normal state rather than a failure.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Delegation Context, Parallel Work and the Durable Kanban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Package the goal, context, exact paths and acceptance criteria into the delegation context.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Dispatch the child agent, receive its summary and verify the artifact it claims to have produced.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Identify genuinely independent tasks and dispatch those as a batch.</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the board tasks, assign profiles and link every dependency before running the dispatcher.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Join only after all required parents are complete and verified.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Delegation Context, Parallel Work and the Durable Kanban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delegation-log.json records the prompt, the agent and the verified result.</a:t>
            </a:r>
          </a:p>
          <a:p>
            <a:pPr>
              <a:spcAft>
                <a:spcPts val="1000"/>
              </a:spcAft>
            </a:pPr>
            <a:r>
              <a:rPr sz="1600" b="0">
                <a:solidFill>
                  <a:srgbClr val="161B26"/>
                </a:solidFill>
                <a:latin typeface="Arial"/>
              </a:rPr>
              <a:t>•  join-ledger.json shows every required parent complete before the join proceeded.</a:t>
            </a:r>
          </a:p>
          <a:p>
            <a:pPr>
              <a:spcAft>
                <a:spcPts val="1000"/>
              </a:spcAft>
            </a:pPr>
            <a:r>
              <a:rPr sz="1600" b="0">
                <a:solidFill>
                  <a:srgbClr val="161B26"/>
                </a:solidFill>
                <a:latin typeface="Arial"/>
              </a:rPr>
              <a:t>•  kanban-export.json shows the full dependency chain with no missing dependency.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Work crosses several agents and must survive restarts or a human pause.</a:t>
            </a:r>
          </a:p>
          <a:p>
            <a:pPr>
              <a:spcAft>
                <a:spcPts val="1000"/>
              </a:spcAft>
            </a:pPr>
            <a:r>
              <a:rPr sz="1400" b="0">
                <a:solidFill>
                  <a:srgbClr val="5B6372"/>
                </a:solidFill>
                <a:latin typeface="Arial"/>
              </a:rPr>
              <a:t>–  Independent tasks exist and the join can be defined on verified artifacts.</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tasks are dependent, so parallel dispatch would skip a dependency.</a:t>
            </a:r>
          </a:p>
          <a:p>
            <a:pPr>
              <a:spcAft>
                <a:spcPts val="1000"/>
              </a:spcAft>
            </a:pPr>
            <a:r>
              <a:rPr sz="1400" b="0">
                <a:solidFill>
                  <a:srgbClr val="5B6372"/>
                </a:solidFill>
                <a:latin typeface="Arial"/>
              </a:rPr>
              <a:t>–  The work fits one session and gains nothing from durable state.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Delegation Context, Parallel Work and the Durable Kanban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task repeats the same failure and the pipeline retries it indefinitely.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Cap attempts, classify the failure and block repeated failures for human intervention.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Task history shows checkpoints, the review and the final evidence for each task.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Human Approval, the YouTube Contract and Publishing Idempotency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Before release the package is frozen and hashed, and a named reviewer approves that specific hash. Immediately before upload the current master hash is compared against the approved hash; a mismatch blocks the upload. The YouTube videos.insert contract requires OAuth authorisation, a snippet, a status block carrying the privacy setting and, where applicable, the synthetic-media disclosure. Uploads default to private. An idempotency key is created before the attempt and reconciled after it, so one approved package yields at most one committed video identifier.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Publishing is irreversible in a way that almost nothing earlier in the pipeline is. Approving a hash rather than a filename closes the gap where an artifact changes between approval and upload. Defaulting to private means a mistake is recoverable by deleting a private video rather than by retracting a public one. Reconciling an idempotency key before a retry prevents the specific failure where a network timeout on a successful upload produces a second copy on the channel.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Human Approval, the YouTube Contract and Publishing Idempotency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Freeze the release package, compute its hash and request approval against that hash.</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Recheck the current master hash immediately before upload and block on any mismatch.</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Authorise OAuth, confirm the channel identity, then set the snippet and the status block.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Default privacy to private and include the synthetic-media disclosure where applicable.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the publish key, check any prior result, then upload and commit the returned identifier.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Human Approval, the YouTube Contract and Publishing Idempotency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approval-ledger.json proves the reviewer, the time, the decision and the approved hash.</a:t>
            </a:r>
          </a:p>
          <a:p>
            <a:pPr>
              <a:spcAft>
                <a:spcPts val="1000"/>
              </a:spcAft>
            </a:pPr>
            <a:r>
              <a:rPr sz="1600" b="0">
                <a:solidFill>
                  <a:srgbClr val="161B26"/>
                </a:solidFill>
                <a:latin typeface="Arial"/>
              </a:rPr>
              <a:t>•  request-preview.json and the private upload receipt match the approved package.</a:t>
            </a:r>
          </a:p>
          <a:p>
            <a:pPr>
              <a:spcAft>
                <a:spcPts val="1000"/>
              </a:spcAft>
            </a:pPr>
            <a:r>
              <a:rPr sz="1600" b="0">
                <a:solidFill>
                  <a:srgbClr val="161B26"/>
                </a:solidFill>
                <a:latin typeface="Arial"/>
              </a:rPr>
              <a:t>•  publication-ledger.csv contains exactly one committed video identifier per idempotency key.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An external, irreversible action is about to be taken on an approved artifact.</a:t>
            </a:r>
          </a:p>
          <a:p>
            <a:pPr>
              <a:spcAft>
                <a:spcPts val="1000"/>
              </a:spcAft>
            </a:pPr>
            <a:r>
              <a:rPr sz="1400" b="0">
                <a:solidFill>
                  <a:srgbClr val="5B6372"/>
                </a:solidFill>
                <a:latin typeface="Arial"/>
              </a:rPr>
              <a:t>–  Retries are possible and duplicate posts would be damaging.</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approved hash does not match the current master hash.</a:t>
            </a:r>
          </a:p>
          <a:p>
            <a:pPr>
              <a:spcAft>
                <a:spcPts val="1000"/>
              </a:spcAft>
            </a:pPr>
            <a:r>
              <a:rPr sz="1400" b="0">
                <a:solidFill>
                  <a:srgbClr val="5B6372"/>
                </a:solidFill>
                <a:latin typeface="Arial"/>
              </a:rPr>
              <a:t>–  Channel identity, disclosure or rights are unresolved, or public visibility is proposed without supervision.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Human Approval, the YouTube Contract and Publishing Idempotency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retry after a timeout produces a second video on the channel.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Reconcile the prior idempotency key and its committed video identifier before retrying.</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duplicate publish rate is zero across all recorded attempts.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Hermes Cron and Controlled Scheduled Release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cron job runs in a fresh session, so its prompt must be self-contained: every required path, gate and stop rule is written into the job, and the skills it needs are attached explicitly. The job is created paused. It is exercised with a dry run whose output is inspected, and the next scheduled run is confirmed before any cadence is enabled. Scheduled work in this course prepares the release and performs the private upload; public visibility remains a separate, explicitly approved decision.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scheduled job inherits nothing from the session that created it, so a prompt that relies on conversational context will behave differently at three in the morning than it did during testing. Creating the job paused makes that difference observable before it matters. Restricting the schedule to preparation and private upload means the worst outcome of a scheduling defect is an unwanted private draft rather than an unapproved public post.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Hermes Cron and Controlled Scheduled Release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Write a self-contained job prompt containing every required path, gate and stop rule.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Attach the custom video skill and any other required skills explicitly.</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Create the schedule with an explicit timezone and leave the job paused.</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Trigger a dry run, inspect the output and confirm the next run time.</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Enable the cadence only after the evidence has been reviewed and the enablement approved.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Hermes Cron and Controlled Scheduled Release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cron-preview.json records the schedule, the next run and the paused state.</a:t>
            </a:r>
          </a:p>
          <a:p>
            <a:pPr>
              <a:spcAft>
                <a:spcPts val="1000"/>
              </a:spcAft>
            </a:pPr>
            <a:r>
              <a:rPr sz="1600" b="0">
                <a:solidFill>
                  <a:srgbClr val="161B26"/>
                </a:solidFill>
                <a:latin typeface="Arial"/>
              </a:rPr>
              <a:t>•  operations-ledger.csv records each run, its outcome and the owner's decision.</a:t>
            </a:r>
          </a:p>
          <a:p>
            <a:pPr>
              <a:spcAft>
                <a:spcPts val="1000"/>
              </a:spcAft>
            </a:pPr>
            <a:r>
              <a:rPr sz="1600" b="0">
                <a:solidFill>
                  <a:srgbClr val="161B26"/>
                </a:solidFill>
                <a:latin typeface="Arial"/>
              </a:rPr>
              <a:t>•  The dry run cannot publish an unapproved or duplicate video.</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A release cadence is required and the preparation steps are already reliable.</a:t>
            </a:r>
          </a:p>
          <a:p>
            <a:pPr>
              <a:spcAft>
                <a:spcPts val="1000"/>
              </a:spcAft>
            </a:pPr>
            <a:r>
              <a:rPr sz="1400" b="0">
                <a:solidFill>
                  <a:srgbClr val="5B6372"/>
                </a:solidFill>
                <a:latin typeface="Arial"/>
              </a:rPr>
              <a:t>–  The job can be made fully self-contained and exercised with a dry run first.</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job prompt still depends on context from the session that created it.</a:t>
            </a:r>
          </a:p>
          <a:p>
            <a:pPr>
              <a:spcAft>
                <a:spcPts val="1000"/>
              </a:spcAft>
            </a:pPr>
            <a:r>
              <a:rPr sz="1400" b="0">
                <a:solidFill>
                  <a:srgbClr val="5B6372"/>
                </a:solidFill>
                <a:latin typeface="Arial"/>
              </a:rPr>
              <a:t>–  Enabling the cadence would allow a public post without a separate approval.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Hermes Cron and Controlled Scheduled Release Operations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Failure signal</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job that passed interactively behaves differently on its first scheduled run.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Repair move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Move every implicit path, gate and stop rule into the job prompt and re-run the dry run.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evidence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on-time success rate holds with zero unauthorised posts.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Multi-Agent Kanban, YouTube Release and Scheduled Publishing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6</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Multi-Agent Video Workflow</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7</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Orchestrate Kanban Review and YouTube Upload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8</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Schedule Controlled Video Publishing with Hermes Cron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the Multi-Agent Video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500" b="0">
                <a:solidFill>
                  <a:srgbClr val="161B26"/>
                </a:solidFill>
                <a:latin typeface="Arial"/>
              </a:rPr>
              <a:t>You will define and simulate four isolated Hermes roles for research, video creation, independent review and approved YouTube upload. Each role receives a bounded tool list and a named deliverable, the reviewer runs in an independent context without approval authority, and the uploader stays blocked until all parent evidence and the current approval hash pass.</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800" b="1">
                <a:solidFill>
                  <a:srgbClr val="161B26"/>
                </a:solidFill>
                <a:latin typeface="Arial"/>
              </a:rPr>
              <a:t>A multi-agent-plan.json with four verified handoff records.</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Define the role contracts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Package the context</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Delegate research</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Delegate production</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Hermes delegation, agent contracts, handoff schema</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the Multi-Agent Video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verify.py must print PASS Lab 06. All roles have bounded tools and outputs, the reviewer is independent, and upload is blocked until all parent evidence and the current approval hash pass.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Orchestrate Kanban Review and YouTube Upload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create a Hermes Kanban dependency chain, assign profiles, link every parent, require review, approve the exact package hash and then prepare or execute a private YouTube upload under explicit human authorisation with an idempotency key.</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800" b="1">
                <a:solidFill>
                  <a:srgbClr val="161B26"/>
                </a:solidFill>
                <a:latin typeface="Arial"/>
              </a:rPr>
              <a:t>A kanban-export.json, approval-ledger.json and a private-upload receipt or dry-run preview.</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Create the board tasks</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Assign the profiles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Link the dependencies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Request review</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Hermes Kanban, approval ledger, YouTube Data API videos.insert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Orchestrate Kanban Review and YouTube Upload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verify.py must print PASS Lab 07. The Kanban graph has no missing dependency, review is required, the request points to the approved master, privacy is private, and no credential is present in any artifact.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Schedule Controlled Video Publishing with Hermes Cron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write a self-contained cron prompt containing every required path, gate and stop rule, attach the custom video skill explicitly, create the schedule paused with an explicit timezone, trigger a dry run, inspect the next run time and approve enablement only after reviewing the evidence.</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800" b="1">
                <a:solidFill>
                  <a:srgbClr val="161B26"/>
                </a:solidFill>
                <a:latin typeface="Arial"/>
              </a:rPr>
              <a:t>A cron-preview.json with an operations-ledger.csv.</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1  Write the self-contained job</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2  Attach the video skill</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3  Create the paused cron</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000" b="1">
                <a:solidFill>
                  <a:srgbClr val="161B26"/>
                </a:solidFill>
                <a:latin typeface="Arial"/>
              </a:rPr>
              <a:t>4  Trigger the dry run</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000" b="1">
                <a:solidFill>
                  <a:srgbClr val="5B6372"/>
                </a:solidFill>
                <a:latin typeface="Arial"/>
              </a:rPr>
              <a:t>Tools:  </a:t>
            </a:r>
            <a:r>
              <a:rPr sz="1000" b="0">
                <a:solidFill>
                  <a:srgbClr val="5B6372"/>
                </a:solidFill>
                <a:latin typeface="Arial"/>
              </a:rPr>
              <a:t>Hermes cron, attached skills, operations ledger</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Schedule Controlled Video Publishing with Hermes Cron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verify.py must print PASS Lab 08. The schedule and timezone are explicit, the prompt is self-contained, the custom skill is attached, the job begins paused, and the dry run cannot publish an unapproved or duplicate video.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Multi-Agent Kanban, YouTube Release and Scheduled Publishing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LO3: define four bounded specialist roles and prove that upload stays blocked until every gate passes</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LO3: run a durable dependency chain and bind a named approval to the exact release hash</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 can now: LO3: create a paused, self-contained scheduled job and enable a cadence only after evidence review</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Plan the Video</a:t>
            </a:r>
          </a:p>
          <a:p>
            <a:pPr algn="l">
              <a:spcAft>
                <a:spcPts val="300"/>
              </a:spcAft>
            </a:pPr>
            <a:r>
              <a:rPr sz="1300" b="0">
                <a:solidFill>
                  <a:srgbClr val="5B6372"/>
                </a:solidFill>
                <a:latin typeface="Arial"/>
              </a:rPr>
              <a:t>Develop an editing strategy and work plan in Hermes Agent using MiniMax M3, structured video prompts and governed tool selection.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Build the Video</a:t>
            </a:r>
          </a:p>
          <a:p>
            <a:pPr algn="l">
              <a:spcAft>
                <a:spcPts val="300"/>
              </a:spcAft>
            </a:pPr>
            <a:r>
              <a:rPr sz="1300" b="0">
                <a:solidFill>
                  <a:srgbClr val="5B6372"/>
                </a:solidFill>
                <a:latin typeface="Arial"/>
              </a:rPr>
              <a:t>Create and customise an evidence-backed video with Hermes skills, Remotion, Manim, Higgsfield-compatible requests and deterministic media checks.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Orchestrate and Release</a:t>
            </a:r>
          </a:p>
          <a:p>
            <a:pPr algn="l">
              <a:spcAft>
                <a:spcPts val="300"/>
              </a:spcAft>
            </a:pPr>
            <a:r>
              <a:rPr sz="1300" b="0">
                <a:solidFill>
                  <a:srgbClr val="5B6372"/>
                </a:solidFill>
                <a:latin typeface="Arial"/>
              </a:rPr>
              <a:t>Orchestrate research, production, review and YouTube release agents through a durable Kanban board and controlled scheduled publishing.</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Continue Building Safely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Replace one deterministic fallback at a time and retain its contract and evidence.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Create test jobs for a missing input, a malformed shot plan, a tool failure, and a denied approval.</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Keep uploads private until channel permissions and an accountable release owner are confirmed.</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Measure accepted masters, repair rate, cost, and latency before enabling any cadence.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Keep your downloaded C436 course files and use the lab checkpoints to restart safely.</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C436 | AGENTIC AI FOR VIDEO CREATION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configure Hermes Agent, engineer video prompts, build a custom branded video skill, and operate a reviewed, evidence-led release pipeline.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Video Creation  ·  C436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