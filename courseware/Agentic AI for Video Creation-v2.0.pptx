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6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1" r:id="rId203"/>
    <p:sldId id="455" r:id="rId2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3" Type="http://schemas.openxmlformats.org/officeDocument/2006/relationships/slide" Target="slides/slide196.xml"/><Relationship Id="rId207" Type="http://schemas.openxmlformats.org/officeDocument/2006/relationships/slide" Target="slides/slide2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covered</c:v>
                </c:pt>
              </c:strCache>
            </c:strRef>
          </c:tx>
          <c:spPr>
            <a:solidFill>
              <a:srgbClr val="1875C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Claims</c:v>
                </c:pt>
                <c:pt idx="2">
                  <c:v>Assets</c:v>
                </c:pt>
                <c:pt idx="3">
                  <c:v>Approval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76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 per run</c:v>
                </c:pt>
              </c:strCache>
            </c:strRef>
          </c:tx>
          <c:spPr>
            <a:solidFill>
              <a:srgbClr val="1875C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Script</c:v>
                </c:pt>
                <c:pt idx="2">
                  <c:v>Video</c:v>
                </c:pt>
                <c:pt idx="3">
                  <c:v>Publish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12</c:v>
                </c:pt>
                <c:pt idx="2">
                  <c:v>49</c:v>
                </c:pt>
                <c:pt idx="3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1875C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Generate</c:v>
                </c:pt>
                <c:pt idx="2">
                  <c:v>Review</c:v>
                </c:pt>
                <c:pt idx="3">
                  <c:v>Release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118</c:v>
                </c:pt>
                <c:pt idx="2">
                  <c:v>34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covered</c:v>
                </c:pt>
              </c:strCache>
            </c:strRef>
          </c:tx>
          <c:spPr>
            <a:solidFill>
              <a:srgbClr val="12936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Claims</c:v>
                </c:pt>
                <c:pt idx="2">
                  <c:v>Assets</c:v>
                </c:pt>
                <c:pt idx="3">
                  <c:v>Approval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76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 per run</c:v>
                </c:pt>
              </c:strCache>
            </c:strRef>
          </c:tx>
          <c:spPr>
            <a:solidFill>
              <a:srgbClr val="12936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Script</c:v>
                </c:pt>
                <c:pt idx="2">
                  <c:v>Video</c:v>
                </c:pt>
                <c:pt idx="3">
                  <c:v>Publish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12</c:v>
                </c:pt>
                <c:pt idx="2">
                  <c:v>49</c:v>
                </c:pt>
                <c:pt idx="3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12936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Generate</c:v>
                </c:pt>
                <c:pt idx="2">
                  <c:v>Review</c:v>
                </c:pt>
                <c:pt idx="3">
                  <c:v>Release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118</c:v>
                </c:pt>
                <c:pt idx="2">
                  <c:v>34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covered</c:v>
                </c:pt>
              </c:strCache>
            </c:strRef>
          </c:tx>
          <c:spPr>
            <a:solidFill>
              <a:srgbClr val="17ABB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Claims</c:v>
                </c:pt>
                <c:pt idx="2">
                  <c:v>Assets</c:v>
                </c:pt>
                <c:pt idx="3">
                  <c:v>Approval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76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 per run</c:v>
                </c:pt>
              </c:strCache>
            </c:strRef>
          </c:tx>
          <c:spPr>
            <a:solidFill>
              <a:srgbClr val="17ABB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Script</c:v>
                </c:pt>
                <c:pt idx="2">
                  <c:v>Video</c:v>
                </c:pt>
                <c:pt idx="3">
                  <c:v>Publish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12</c:v>
                </c:pt>
                <c:pt idx="2">
                  <c:v>49</c:v>
                </c:pt>
                <c:pt idx="3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17ABB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Generate</c:v>
                </c:pt>
                <c:pt idx="2">
                  <c:v>Review</c:v>
                </c:pt>
                <c:pt idx="3">
                  <c:v>Release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118</c:v>
                </c:pt>
                <c:pt idx="2">
                  <c:v>34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pass</c:v>
                </c:pt>
              </c:strCache>
            </c:strRef>
          </c:tx>
          <c:spPr>
            <a:solidFill>
              <a:srgbClr val="17ABB7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Narrative</c:v>
                </c:pt>
                <c:pt idx="1">
                  <c:v>Technical</c:v>
                </c:pt>
                <c:pt idx="2">
                  <c:v>Caption</c:v>
                </c:pt>
                <c:pt idx="3">
                  <c:v>Rights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</c:v>
                </c:pt>
                <c:pt idx="1">
                  <c:v>100</c:v>
                </c:pt>
                <c:pt idx="2">
                  <c:v>96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AE2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https://www.tertiarycourses.com.sg/wsq-agentic-ai-for-video-creation.html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https://github.com/tertiarycourses/TGS-2023036088-Agentic-AI-for-Video-Creation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https://hermes-agent.nousresearch.com/desktop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courseware synthesis; see final References slide and Learner Guide bibliography.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tertiarycourses/TGS-2023036088-Agentic-AI-for-Video-Crea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chart" Target="../charts/char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chart" Target="../charts/char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chart" Target="../charts/chart4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chart" Target="../charts/chart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chart" Target="../charts/chart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chart" Target="../charts/char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chart" Target="../charts/chart8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chart" Target="../charts/chart9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chart" Target="../charts/chart10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2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mes-agent-video-control-room-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5212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7ABB7"/>
                </a:solidFill>
                <a:latin typeface="Arial"/>
              </a:rPr>
              <a:t>NON-WSQ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539496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Agentic AI for Video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63240"/>
            <a:ext cx="51663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Hermes → create → review → approve → 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42816"/>
            <a:ext cx="5394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C436  |  v2.0  |  2 days / 15 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92040"/>
            <a:ext cx="530352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907024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7ABB7"/>
                </a:solidFill>
                <a:latin typeface="Arial"/>
              </a:rPr>
              <a:t>MiniMax M3 • Eight self-contained Hermes labs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Trainer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Your trainer facilitates evidence-led AI workflow design and video-production governance.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Hermes Agent architecture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Generative media production controls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Video tools and custom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Technical assessment and remediation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Dr Alfred 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Principal Trainer,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Doctorate-level applied technology educator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AI, data, cloud and automation curriculum leadership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Industry-oriented assessment and implementation practice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Focus: explainable, governed technical outcomes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Learner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Connect your existing role to one video-production automation problem.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Role and organisation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Current video or content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One repeated production bottleneck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One risk you want the automation to control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Working agreements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Use governed experimentation throughout the course.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Use synthetic or approved data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Never paste live secrets into prompts or lab files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Keep YouTube uploads private during labs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Challenge outputs with evidence and timecodes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Course facts and competency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C436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Non-WSQ commercial short course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Course code: C436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Duration: 2 days / 15 instructional hours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Assessment: none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Version: v2.0 / 16 September 2026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Day 1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Hermes setup, MiniMax M3 and governed video prompt engineering.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Hermes Desktop installation and diagnostics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MiniMax-M3 provider configuration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FRAME-CUT prompt contracts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Labs 01–03: setup to simple video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Day 2 lesson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Video tools, skills, multi-agent control and scheduled release.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Remotion, Manim, Higgsfield and FFmpeg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Custom branding, tone and style skill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Kanban review and private YouTube upload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Labs 04–08 plus 2-hour assessment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Learning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At course completion, you can design, assess and remediate a governed agentic-video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392" y="2523744"/>
            <a:ext cx="914400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39696" y="2770632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2688336"/>
            <a:ext cx="828446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LO1: Develop an editing strategy and work plan in Hermes Agent using MiniMax M3, structured video prompts and governed tool selection.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93392" y="3694176"/>
            <a:ext cx="914400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9696" y="3941064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9696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3858768"/>
            <a:ext cx="828446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LO2: Create and customise an evidence-backed video with Hermes skills, Remotion, Manim, Higgsfield-compatible requests and deterministic media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93392" y="4864608"/>
            <a:ext cx="914400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39696" y="5111496"/>
            <a:ext cx="420624" cy="420624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11149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5029200"/>
            <a:ext cx="828446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LO3: Orchestrate research, production, review and YouTube release agents through a durable Kanban board and controlled scheduled publishing.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Access the labs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Eight self-contained lab folders carry the complete Hermes production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Open each folder as a Hermes project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only supplied synthetic inputs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Use AI-PROMPTS.md or its PDF twin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Run verify.py before moving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687568"/>
            <a:ext cx="891540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875C4"/>
                </a:solidFill>
                <a:latin typeface="Arial"/>
                <a:hlinkClick r:id="rId3"/>
              </a:rPr>
              <a:t>https://github.com/tertiarycourses/C436-Agentic-AI-for-Video-Creation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7ABB7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rial"/>
              </a:rPr>
              <a:t>Hermes Agent Setup, MiniMax M3 and Video 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LO1 - configure Hermes safely and convert creative intent into a machine-checkable video plan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15584"/>
            <a:ext cx="841248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Every mechanism ends in observable evidence—not an agent’s assertion.</a:t>
            </a:r>
          </a:p>
        </p:txBody>
      </p:sp>
    </p:spTree>
  </p:cSld>
  <p:transition spd="med">
    <p:push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Hermes Desktop runtime boundary: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Download installer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 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Complete setup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Run diagnostics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installer_source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hermes_version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doctor_status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An unofficial installer or unsupported platform creates an untrusted runtime.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Hermes Desktop runtime boundary: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the official desktop page and stop when hermes doctor reports a failed dependency.</a:t>
            </a:r>
          </a:p>
        </p:txBody>
      </p:sp>
    </p:spTree>
  </p:cSld>
  <p:transition spd="med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Hermes Desktop runtime boundary: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setup pass = required diagnostics passed / required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setup-evidence.json records official source, version and diagnostic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Shared desktop and CLI state: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Open Desktop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Inspect profile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Open terminal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Compare configuration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config_path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session_id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skill_root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Desktop and CLI appear to use different models because separate profiles are active.</a:t>
            </a:r>
          </a:p>
        </p:txBody>
      </p:sp>
    </p:spTree>
  </p:cSld>
  <p:transition spd="med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Shared desktop and CLI state: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 the active profile and compare provider, model and skill directory before production.</a:t>
            </a:r>
          </a:p>
        </p:txBody>
      </p:sp>
    </p:spTree>
  </p:cSld>
  <p:transition spd="med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Shared desktop and CLI state: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state consistency = matching settings / checked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profile-check.json shows the same provider and model on both surfaces.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MiniMax M3 provider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API key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Configure provider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Select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provider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base_url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credential_ref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learner selects an older OAuth-listed model while assuming it is M3.</a:t>
            </a:r>
          </a:p>
        </p:txBody>
      </p:sp>
    </p:spTree>
  </p:cSld>
  <p:transition spd="med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MiniMax M3 provider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provider minimax with model MiniMax-M3 and verify the returned model identifier.</a:t>
            </a:r>
          </a:p>
        </p:txBody>
      </p:sp>
    </p:spTree>
  </p:cSld>
  <p:transition spd="med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MiniMax M3 provider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model handshake pass = successful tool-capable response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model-check.json records MiniMax-M3 without recording the key.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Trial and quota verification: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Open live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Read terms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Record expiry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budget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offer_seen_at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trial_end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quota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fallback_model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course promise about a one-day trial becomes stale or differs by account region.</a:t>
            </a:r>
          </a:p>
        </p:txBody>
      </p:sp>
    </p:spTree>
  </p:cSld>
  <p:transition spd="med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Trial and quota verification: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Treat the offer as time-sensitive; record live terms at sign-up and prepare a fallback.</a:t>
            </a:r>
          </a:p>
        </p:txBody>
      </p:sp>
    </p:spTree>
  </p:cSld>
  <p:transition spd="med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Trial and quota verification: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budget headroom = available quota - reserved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trial-checklist.md contains observed terms, date and learner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Credential isolation: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secret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Store securely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Reference variable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Redact 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secret_name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rotation_due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MiniMax or YouTube key is pasted into a prompt, screenshot or repository.</a:t>
            </a:r>
          </a:p>
        </p:txBody>
      </p:sp>
    </p:spTree>
  </p:cSld>
  <p:transition spd="med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Credential isolation: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Keep secrets in Hermes credential/config storage and publish placeholders only.</a:t>
            </a:r>
          </a:p>
        </p:txBody>
      </p:sp>
    </p:spTree>
  </p:cSld>
  <p:transition spd="med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Credential isolation: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secret exposure count =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secret scan reports zero live tokens in the lab package.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Model capability routing: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Classify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Check modality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media tool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task_type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input_modality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model_id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tool_id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language model is asked to render video bytes instead of planning and operating a media tool.</a:t>
            </a:r>
          </a:p>
        </p:txBody>
      </p:sp>
    </p:spTree>
  </p:cSld>
  <p:transition spd="med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Model capability routing: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M3 for reasoning and tool orchestration; use a video renderer or generator for media.</a:t>
            </a:r>
          </a:p>
        </p:txBody>
      </p:sp>
    </p:spTree>
  </p:cSld>
  <p:transition spd="med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Model capability routing: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routing yield = accepted outputs / routed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tool-routing.csv links every task to a capable model or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FRAME-CUT prompt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FRAME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Add CUT controls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Validate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format_role_assets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motion_environment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continuity_unwanted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technical_output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cinematic prompt omits duration, aspect ratio, continuity or acceptance criteria.</a:t>
            </a:r>
          </a:p>
        </p:txBody>
      </p:sp>
    </p:spTree>
  </p:cSld>
  <p:transition spd="med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FRAME-CUT prompt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FRAME-CUT and validate the returned shot plan before generation.</a:t>
            </a:r>
          </a:p>
        </p:txBody>
      </p:sp>
    </p:spTree>
  </p:cSld>
  <p:transition spd="med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FRAME-CUT prompt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prompt validity = required fields present / required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prompt-contract.json passes schema and duration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Format and finish: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duration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aspect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delivery codec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duration_s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aspect_ratio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codec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composition is correct but cannot be uploaded in the intended channel format.</a:t>
            </a:r>
          </a:p>
        </p:txBody>
      </p:sp>
    </p:spTree>
  </p:cSld>
  <p:transition spd="med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Format and finish: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Freeze delivery properties before shot generation and assembly.</a:t>
            </a:r>
          </a:p>
        </p:txBody>
      </p:sp>
    </p:spTree>
  </p:cSld>
  <p:transition spd="med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Format and finish: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delivery compliance = passed technical fields / required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video-spec.json contains approved format and finish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Role, references and assets: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Assign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Attach brief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Register sources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List assets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brief_uri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source_ids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asset_ids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agent invents brand facts or uses an unapproved image.</a:t>
            </a:r>
          </a:p>
        </p:txBody>
      </p:sp>
    </p:spTree>
  </p:cSld>
  <p:transition spd="med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Role, references and assets: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Limit reasoning to named references and a manifest of authorized assets.</a:t>
            </a:r>
          </a:p>
        </p:txBody>
      </p:sp>
    </p:spTree>
  </p:cSld>
  <p:transition spd="med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Role, references and assets: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asset coverage = registered assets / required assets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asset-manifest.csv resolves every asset and source identifier.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Action, motion and environment: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Name subject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camera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Lock environment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subject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camera_motion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environment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One prompt combines multiple actions and conflicting camera moves.</a:t>
            </a:r>
          </a:p>
        </p:txBody>
      </p:sp>
    </p:spTree>
  </p:cSld>
  <p:transition spd="med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Action, motion and environment: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one dominant subject action and one camera move per timed shot.</a:t>
            </a:r>
          </a:p>
        </p:txBody>
      </p:sp>
    </p:spTree>
  </p:cSld>
  <p:transition spd="med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Action, motion and environment: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usable shot rate = accepted shots / attempts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shot-list.json shows one action-motion pair per shot.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Continuity and negative constraints: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Lock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Lock palette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List invariants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Reject drift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continuity_token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palette_hex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must_keep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must_avoid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Characters, products or brand colors drift between generated clips.</a:t>
            </a:r>
          </a:p>
        </p:txBody>
      </p:sp>
    </p:spTree>
  </p:cSld>
  <p:transition spd="med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Continuity and negative constraints: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Reuse continuity tokens and compare keyframes against explicit invariants.</a:t>
            </a:r>
          </a:p>
        </p:txBody>
      </p:sp>
    </p:spTree>
  </p:cSld>
  <p:transition spd="med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Continuity and negative constraints: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continuity defects per reviewed shot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continuity-review.json records deviations and acceptance.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Structured shot-plan output: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Request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Parse response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Check timeline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Approve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shot_id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start_s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end_s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prompt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Plausible prose cannot be handed reliably to render tools.</a:t>
            </a:r>
          </a:p>
        </p:txBody>
      </p:sp>
    </p:spTree>
  </p:cSld>
  <p:transition spd="med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Structured shot-plan output: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Require strict JSON and fail on gaps, overlaps or unknown fields.</a:t>
            </a:r>
          </a:p>
        </p:txBody>
      </p:sp>
    </p:spTree>
  </p:cSld>
  <p:transition spd="med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Structured shot-plan output: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timeline variance = planned duration - target duration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shot-plan.json totals the target duration with no overlap.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Simple video agent loop: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Receive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Plan shots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Call tool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Inspect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run_id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plan_hash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tool_call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result_uri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agent repeatedly regenerates without a finish condition.</a:t>
            </a:r>
          </a:p>
        </p:txBody>
      </p:sp>
    </p:spTree>
  </p:cSld>
  <p:transition spd="med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Simple video agent loop: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49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Set one render attempt, one review pass and an explicit repair decision.</a:t>
            </a:r>
          </a:p>
        </p:txBody>
      </p:sp>
    </p:spTree>
  </p:cSld>
  <p:transition spd="med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Simple video agent loop: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first-pass completion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run-ledger.json contains the plan, call, result and stop reason.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Cost, latency and stop rules: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Estimate calls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Reserve retries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ceiling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Stop or escalate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estimated_cost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max_attempts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timeout_s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stop_reason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trial quota is consumed by open-ended retries.</a:t>
            </a:r>
          </a:p>
        </p:txBody>
      </p:sp>
    </p:spTree>
  </p:cSld>
  <p:transition spd="med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Cost, latency and stop rules: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Cap attempts and require a human decision before additional paid generation.</a:t>
            </a:r>
          </a:p>
        </p:txBody>
      </p:sp>
    </p:spTree>
  </p:cSld>
  <p:transition spd="med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Cost, latency and stop rules: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budget variance = actual cost - approved 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budget-ledger.csv reconciles attempts, latency and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Boundary map: agent reasoning versus deterministic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875C4"/>
                </a:solidFill>
                <a:latin typeface="Arial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Interpret ambiguity
Propose creative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29367"/>
                </a:solidFill>
                <a:latin typeface="Arial"/>
              </a:rPr>
              <a:t>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Validate schema
Measure thresholds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E09119"/>
                </a:solidFill>
                <a:latin typeface="Arial"/>
              </a:rPr>
              <a:t>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Approve consequence
Own exception</a:t>
            </a:r>
          </a:p>
        </p:txBody>
      </p:sp>
    </p:spTree>
  </p:cSld>
  <p:transition spd="med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State model: READY, BLOCKED, REPAIR and APPROVED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29367"/>
                </a:solidFill>
                <a:latin typeface="Arial"/>
              </a:rPr>
              <a:t>READY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93E36"/>
                </a:solidFill>
                <a:latin typeface="Arial"/>
              </a:rPr>
              <a:t>BLOCKED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E09119"/>
                </a:solidFill>
                <a:latin typeface="Arial"/>
              </a:rPr>
              <a:t>REPAIR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875C4"/>
                </a:solidFill>
                <a:latin typeface="Arial"/>
              </a:rPr>
              <a:t>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Only APPROVED can cross a consequential publishing boundary.</a:t>
            </a:r>
          </a:p>
        </p:txBody>
      </p:sp>
    </p:spTree>
  </p:cSld>
  <p:transition spd="med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chain: source → asset → approval → external 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source_id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claim 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asset sha256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reviewed bytes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payload_hash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approved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external_id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platform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A release is explainable when every identifier resolves to immutable evidence.</a:t>
            </a:r>
          </a:p>
        </p:txBody>
      </p:sp>
    </p:spTree>
  </p:cSld>
  <p:transition spd="med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Failure taxonomy: transient, contract, policy and human-decision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17ABB7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TRANSIENT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retry with capped backoff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C93E36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CONTRACT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C9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repair invalid input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E09119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stop and escalate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1875C4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wait for named decision</a:t>
            </a:r>
          </a:p>
        </p:txBody>
      </p:sp>
    </p:spTree>
  </p:cSld>
  <p:transition spd="med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coverage closes the release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Approval is not the final checkbox; it is the last link in an evidence chain.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Budget control contains retry amplification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59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Generation dominates unit cost, so retries need deterministic stop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Stage latency reveals the optimisation target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Optimise the longest stage only after quality and safety gates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Set Up Hermes Desktop and Connect MiniMax M3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Install Hermes Desktop from the official source, configure the MiniMax provider for MiniMax-M3 and prove a tool-capable model handshake without exposing a credential.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setup-evidence.json and redacted diagnostic 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labs/lab-01-setup-hermes-and-connect-minimax-m3/</a:t>
            </a:r>
          </a:p>
        </p:txBody>
      </p:sp>
    </p:spTree>
  </p:cSld>
  <p:transition spd="med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Download official installer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Complete Hermes setup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Configure MiniMax-M3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Run hermes doctor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Verify model response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Redact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01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Hermes launches; the configured provider is minimax; the model is MiniMax-M3; hermes doctor has no blocking failure; published evidence contains placeholders only.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Prompt Hermes to Create a Simple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Use a copy-ready Hermes prompt to convert a supplied 15-second brief into a validated shot plan and deterministic preview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simple-video.mp4, shot-plan.json and ffprobe.json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labs/lab-02-prompt-hermes-to-create-a-simple-video/</a:t>
            </a:r>
          </a:p>
        </p:txBody>
      </p:sp>
    </p:spTree>
  </p:cSld>
  <p:transition spd="med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Open project folder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Submit bounded prompt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Validate shot plan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Run preview renderer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Probe MP4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Record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02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shot plan is valid JSON, totals 15 seconds, uses only supplied assets, and the generated MP4 passes dimensions, codec and duration checks.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Engineer Video Prompts with FRAME-CUT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Transform a vague creative request into portable shot prompts using the FRAME-CUT framework and evaluate them with a deterministic rubric.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prompt-pack.json and prompt-score.csv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labs/lab-03-engineer-video-prompts-with-frame-cut/</a:t>
            </a:r>
          </a:p>
        </p:txBody>
      </p:sp>
    </p:spTree>
  </p:cSld>
  <p:transition spd="med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Diagnose vague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Complete FRAME fields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Complete CUT fields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Generate shot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Score rubric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Repair one defect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03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Every shot has all FRAME-CUT fields, one dominant action, one camera move, explicit continuity and negative constraints, and a measurable output check.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1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1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7ABB7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rial"/>
              </a:rPr>
              <a:t>Video Tools, Hermes Skills and Custom Brand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LO2 - create a technically valid branded video by combining agent reasoning with specialist media tools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15584"/>
            <a:ext cx="841248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Every mechanism ends in observable evidence—not an agent’s assertion.</a:t>
            </a:r>
          </a:p>
        </p:txBody>
      </p:sp>
    </p:spTree>
  </p:cSld>
  <p:transition spd="med">
    <p:push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Tool versus skill decision: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Identify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Assess auth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Choose tool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Wrap procedure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capability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auth_mode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tool_or_skill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owner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brittle instruction-only skill tries to manage streaming media or complex authentication.</a:t>
            </a:r>
          </a:p>
        </p:txBody>
      </p:sp>
    </p:spTree>
  </p:cSld>
  <p:transition spd="med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Tool versus skill decision: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a tool for precise integrated execution and a skill for repeatable instructions plus scripts.</a:t>
            </a:r>
          </a:p>
        </p:txBody>
      </p:sp>
    </p:spTree>
  </p:cSld>
  <p:transition spd="med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Tool versus skill decision: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integration fit = satisfied requirements /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decision-record.md states why each capability is a tool or skill.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Hermes skill anatomy: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directory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Write frontmatter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Add procedure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Test invocation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description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skill_dir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vague description prevents Hermes from discovering the skill.</a:t>
            </a:r>
          </a:p>
        </p:txBody>
      </p:sp>
    </p:spTree>
  </p:cSld>
  <p:transition spd="med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Hermes skill anatomy: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Describe the exact trigger and include deterministic verification commands.</a:t>
            </a:r>
          </a:p>
        </p:txBody>
      </p:sp>
    </p:spTree>
  </p:cSld>
  <p:transition spd="med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Hermes skill anatomy: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skill test pass = expected artifacts produced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SKILL.md and test transcript show correct activation.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Skill discovery and progressive loading: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79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List skills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Search catalog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View selected skill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Invoke task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file_path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task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agent loads a large library or the wrong similarly named skill.</a:t>
            </a:r>
          </a:p>
        </p:txBody>
      </p:sp>
    </p:spTree>
  </p:cSld>
  <p:transition spd="med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Skill discovery and progressive loading: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Search first, view the selected skill, then load only referenced resources.</a:t>
            </a:r>
          </a:p>
        </p:txBody>
      </p:sp>
    </p:spTree>
  </p:cSld>
  <p:transition spd="med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Skill discovery and progressive loading: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context efficiency = loaded relevant files / loaded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skill-usage.json records the selected skill and resources.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Remotion composition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Bind props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Preview frames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Render MP4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composition_id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duration_frames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input_props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render duration or aspect ratio drifts from the approved video specification.</a:t>
            </a:r>
          </a:p>
        </p:txBody>
      </p:sp>
    </p:spTree>
  </p:cSld>
  <p:transition spd="med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Remotion composition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Derive frames from duration and validate width, height, fps and codec after render.</a:t>
            </a:r>
          </a:p>
        </p:txBody>
      </p:sp>
    </p:spTree>
  </p:cSld>
  <p:transition spd="med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Remotion composition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duration seconds = duration frames / fps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remotion-render.json and ffprobe.json agree with the contract.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Manim explanatory scene: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objects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Stage transforms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Render scene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Composite clip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scene_class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frame_rate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output_file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mathematical or process animation is visually attractive but semantically wrong.</a:t>
            </a:r>
          </a:p>
        </p:txBody>
      </p:sp>
    </p:spTree>
  </p:cSld>
  <p:transition spd="med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Manim explanatory scene: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Bind labels and values to the approved evidence model and review rendered frames.</a:t>
            </a:r>
          </a:p>
        </p:txBody>
      </p:sp>
    </p:spTree>
  </p:cSld>
  <p:transition spd="med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Manim explanatory scene: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animation timing variance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manim-scene.py and contact sheet prove the intended transformation.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Higgsfield shot request: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Select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Attach reference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Write motion prompt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Review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reference_uri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motion_prompt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generation_id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cloud generation call consumes quota before prompt and rights checks pass.</a:t>
            </a:r>
          </a:p>
        </p:txBody>
      </p:sp>
    </p:spTree>
  </p:cSld>
  <p:transition spd="med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Higgsfield shot request: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89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Create a request preview first; call the service only with approved assets and quota.</a:t>
            </a:r>
          </a:p>
        </p:txBody>
      </p:sp>
    </p:spTree>
  </p:cSld>
  <p:transition spd="med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Higgsfield shot request: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accepted clip yield = approved clips / generated clips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higgsfield-request.json records prompt, references and review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FFmpeg deterministic assembly: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Normalize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Build timeline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Mix audio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Encode master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filter_complex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video_codec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audio_codec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pix_fmt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Incompatible dimensions, frame rates or time bases break composition.</a:t>
            </a:r>
          </a:p>
        </p:txBody>
      </p:sp>
    </p:spTree>
  </p:cSld>
  <p:transition spd="med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FFmpeg deterministic assembly: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Normalize every source before concat and probe the final container.</a:t>
            </a:r>
          </a:p>
        </p:txBody>
      </p:sp>
    </p:spTree>
  </p:cSld>
  <p:transition spd="med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FFmpeg deterministic assembly: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render success = valid masters / render attempts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ffprobe.json confirms H.264, AAC, dimensions, fps and duration.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Tool permission boundary: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Declare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working root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Request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Record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allowed_paths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network_scope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side_effect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approval_id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broad terminal or browser tool can publish or overwrite the wrong artifact.</a:t>
            </a:r>
          </a:p>
        </p:txBody>
      </p:sp>
    </p:spTree>
  </p:cSld>
  <p:transition spd="med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Tool permission boundary: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Scope paths and accounts; separate preview from consequential execution.</a:t>
            </a:r>
          </a:p>
        </p:txBody>
      </p:sp>
    </p:spTree>
  </p:cSld>
  <p:transition spd="med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Tool permission boundary: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unauthorized side effects =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tool-policy.yaml and audit log show bounded operations.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Asset provenance and checksum: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Register 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Record license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Compute hash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Freeze 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asset_id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source_uri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rights_status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sha256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reviewed asset changes while retaining the same filename.</a:t>
            </a:r>
          </a:p>
        </p:txBody>
      </p:sp>
    </p:spTree>
  </p:cSld>
  <p:transition spd="med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Asset provenance and checksum: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Bind approval to cryptographic hashes and immutable versions.</a:t>
            </a:r>
          </a:p>
        </p:txBody>
      </p:sp>
    </p:spTree>
  </p:cSld>
  <p:transition spd="med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Asset provenance and checksum: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manifest integrity = verified hashes / manifest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asset-manifest.csv verifies rights and hashes.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Brand token system: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Extract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palette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typography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motion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logo_uri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palette_hex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font_stack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motion_style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agent improvises colors, tone or animation on every run.</a:t>
            </a:r>
          </a:p>
        </p:txBody>
      </p:sp>
    </p:spTree>
  </p:cSld>
  <p:transition spd="med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Brand token system: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Store editable brand tokens and reference them from the video skill.</a:t>
            </a:r>
          </a:p>
        </p:txBody>
      </p:sp>
    </p:spTree>
  </p:cSld>
  <p:transition spd="med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Brand token system: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brand compliance = passed checks / applicable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brand-profile.yaml and frame samples pass the checklist.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Tone and style controls: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audience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voice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pacing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exclusions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audience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words_per_min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style_avoid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polished output sounds off-brand or imitates a protected creator style.</a:t>
            </a:r>
          </a:p>
        </p:txBody>
      </p:sp>
    </p:spTree>
  </p:cSld>
  <p:transition spd="med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Tone and style controls: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descriptive attributes and exclusions, not living-artist imitation.</a:t>
            </a:r>
          </a:p>
        </p:txBody>
      </p:sp>
    </p:spTree>
  </p:cSld>
  <p:transition spd="med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Tone and style controls: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tone adherence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review rubric records tone, pacing and originality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Custom brand-video skill: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Write 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Bundle scripts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Add templates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Run acceptance test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script_path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template_path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output_contract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skill depends on hidden context or absolute project paths.</a:t>
            </a:r>
          </a:p>
        </p:txBody>
      </p:sp>
    </p:spTree>
  </p:cSld>
  <p:transition spd="med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Custom brand-video skill: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Hermes template variables and explicit inputs, outputs and verification.</a:t>
            </a:r>
          </a:p>
        </p:txBody>
      </p:sp>
    </p:spTree>
  </p:cSld>
  <p:transition spd="med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Custom brand-video skill: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repeatability = matching outputs / repeated runs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custom skill produces the expected video and evidence on a clean run.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Technical video quality gate: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109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Probe container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Inspect frames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Check captions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Gate master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width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height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avg_frame_rate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duration_s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video plays locally but violates channel or accessibility requirements.</a:t>
            </a:r>
          </a:p>
        </p:txBody>
      </p:sp>
    </p:spTree>
  </p:cSld>
  <p:transition spd="med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Technical video quality gate: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Fail closed on missing streams, wrong bounds or unreadable captions.</a:t>
            </a:r>
          </a:p>
        </p:txBody>
      </p:sp>
    </p:spTree>
  </p:cSld>
  <p:transition spd="med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Technical video quality gate: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technical checks passed / technical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technical-qc.json and contact sheet show observed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Repair and versioned evidence: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Open finding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Assign repair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Render version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Re-test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finding_id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severity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asset_version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resolution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repair overwrites the reviewed master or introduces a new defect.</a:t>
            </a:r>
          </a:p>
        </p:txBody>
      </p:sp>
    </p:spTree>
  </p:cSld>
  <p:transition spd="med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Repair and versioned evidence: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Write a new immutable version and rerun every affected check.</a:t>
            </a:r>
          </a:p>
        </p:txBody>
      </p:sp>
    </p:spTree>
  </p:cSld>
  <p:transition spd="med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Repair and versioned evidence: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repair effectiveness = closed findings / reopened findings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repair-log.json links finding, change, hash and re-test.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Boundary map: agent reasoning versus deterministic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875C4"/>
                </a:solidFill>
                <a:latin typeface="Arial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Interpret ambiguity
Propose creative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29367"/>
                </a:solidFill>
                <a:latin typeface="Arial"/>
              </a:rPr>
              <a:t>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Validate schema
Measure thresholds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E09119"/>
                </a:solidFill>
                <a:latin typeface="Arial"/>
              </a:rPr>
              <a:t>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Approve consequence
Own exception</a:t>
            </a:r>
          </a:p>
        </p:txBody>
      </p:sp>
    </p:spTree>
  </p:cSld>
  <p:transition spd="med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State model: READY, BLOCKED, REPAIR and APPROVED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29367"/>
                </a:solidFill>
                <a:latin typeface="Arial"/>
              </a:rPr>
              <a:t>READY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93E36"/>
                </a:solidFill>
                <a:latin typeface="Arial"/>
              </a:rPr>
              <a:t>BLOCKED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E09119"/>
                </a:solidFill>
                <a:latin typeface="Arial"/>
              </a:rPr>
              <a:t>REPAIR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875C4"/>
                </a:solidFill>
                <a:latin typeface="Arial"/>
              </a:rPr>
              <a:t>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Only APPROVED can cross a consequential publishing boundary.</a:t>
            </a:r>
          </a:p>
        </p:txBody>
      </p:sp>
    </p:spTree>
  </p:cSld>
  <p:transition spd="med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chain: source → asset → approval → external 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source_id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claim 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asset sha256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reviewed bytes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payload_hash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approved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external_id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platform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A release is explainable when every identifier resolves to immutable evidence.</a:t>
            </a:r>
          </a:p>
        </p:txBody>
      </p:sp>
    </p:spTree>
  </p:cSld>
  <p:transition spd="med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Failure taxonomy: transient, contract, policy and human-decision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17ABB7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TRANSIENT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retry with capped backoff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C93E36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CONTRACT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C9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repair invalid input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E09119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stop and escalate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1875C4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wait for named decision</a:t>
            </a:r>
          </a:p>
        </p:txBody>
      </p:sp>
    </p:spTree>
  </p:cSld>
  <p:transition spd="med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coverage closes the release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119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Approval is not the final checkbox; it is the last link in an evidence chain.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Budget control contains retry amplification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Generation dominates unit cost, so retries need deterministic stop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Stage latency reveals the optimisation target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Optimise the longest stage only after quality and safety gates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Install Video Tools and Hermes Skills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a governed tool registry and install learner-safe Hermes skills for Remotion, Manim, Higgsfield request preparation and FFmpeg verification.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tool-routing.json and skill-smoke-test.json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labs/lab-04-install-video-tools-and-skills/</a:t>
            </a:r>
          </a:p>
        </p:txBody>
      </p:sp>
    </p:spTree>
  </p:cSld>
  <p:transition spd="med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Inventory local 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Search Hermes skills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Install or create skills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Run smoke tests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Record permissions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Choose fallback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04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registry records capability, installation state, auth mode, side effects and fallback; every supplied SKILL.md passes frontmatter and path checks.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05 · Create a Custom Branded Video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Turn brand, tone and style rules into a reusable Hermes skill, render a custom video and verify the output against brand and technical evidence.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custom-video.mp4, brand-review.json and render-evidence.json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labs/lab-05-create-custom-branded-video-skill/</a:t>
            </a:r>
          </a:p>
        </p:txBody>
      </p:sp>
    </p:spTree>
  </p:cSld>
  <p:transition spd="med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05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Approve brand profile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SKILL.md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Bind templates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Render video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Review frames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Version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05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custom skill is discoverable, uses relative or Hermes template paths, creates an MP4, passes the technical probe and meets every required brand token.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2 technical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state field prevents a silent downstream assumption?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What evidence proves the mechanism completed successfully?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Which failure must stop rather than retry?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Who owns the consequential decision?</a:t>
            </a:r>
          </a:p>
        </p:txBody>
      </p:sp>
    </p:spTree>
  </p:cSld>
  <p:transition spd="med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Topic 2 transfer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92224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Change one input constraint and predict the affected nodes.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36192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1792224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922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Name the identifier that preserves provenance across the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5193792" cy="169164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950208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Define one machine threshold and one human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193792" cy="169164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395020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95020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68496"/>
            <a:ext cx="391363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Describe the minimum evidence required to resume the run.</a:t>
            </a:r>
          </a:p>
        </p:txBody>
      </p:sp>
    </p:spTree>
  </p:cSld>
  <p:transition spd="med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749808"/>
            <a:ext cx="1325880" cy="132588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325880" cy="1325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5728" y="804672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7ABB7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243584"/>
            <a:ext cx="87782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rial"/>
              </a:rPr>
              <a:t>Multi-Agent Kanban, YouTube Release and Scheduled Publishing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2889504"/>
            <a:ext cx="809244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LO3 - operate a durable role-based production system with review, release and scheduling safeguards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4005072"/>
            <a:ext cx="8138160" cy="0"/>
          </a:xfrm>
          <a:prstGeom prst="line">
            <a:avLst/>
          </a:prstGeom>
          <a:ln w="381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1720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4507992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684264" y="4315968"/>
            <a:ext cx="731520" cy="7315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860536" y="4315968"/>
            <a:ext cx="731520" cy="7315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0536" y="4315968"/>
            <a:ext cx="7315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521208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5815584"/>
            <a:ext cx="841248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Every mechanism ends in observable evidence—not an agent’s assertion.</a:t>
            </a:r>
          </a:p>
        </p:txBody>
      </p:sp>
    </p:spTree>
  </p:cSld>
  <p:transition spd="med">
    <p:push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Agent role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Define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Limit tools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Name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finish rule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agent_name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allowed_tools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deliverable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done_when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role such as video agent is too broad to evaluate or recover.</a:t>
            </a:r>
          </a:p>
        </p:txBody>
      </p:sp>
    </p:spTree>
  </p:cSld>
  <p:transition spd="med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Agent role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Give every agent one owned deliverable and one measurable completion rule.</a:t>
            </a:r>
          </a:p>
        </p:txBody>
      </p:sp>
    </p:spTree>
  </p:cSld>
  <p:transition spd="med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01 · Agent role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role completeness = required fields / required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agent-contracts.yaml validates all four specialist roles.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Research agent: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Read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Retrieve sources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Score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Handoff claims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research_task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source_ids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claim_ids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handoff_status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Research output contains fabricated or irretrievable citations.</a:t>
            </a:r>
          </a:p>
        </p:txBody>
      </p:sp>
    </p:spTree>
  </p:cSld>
  <p:transition spd="med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Research agent: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Require retrievable URLs, bounded excerpts and explicit limitations.</a:t>
            </a:r>
          </a:p>
        </p:txBody>
      </p:sp>
    </p:spTree>
  </p:cSld>
  <p:transition spd="med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02 · Research agent: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claim coverage = sourced claims / factual 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research-handoff.json contains approved sources and claim IDs.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Video production agent: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Read approved 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shot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Invoke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Return master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claim_ids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shot_plan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skill_names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master_hash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production agent changes approved claims or bypasses brand controls.</a:t>
            </a:r>
          </a:p>
        </p:txBody>
      </p:sp>
    </p:spTree>
  </p:cSld>
  <p:transition spd="med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Video production agent: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Provide immutable research input and require the custom brand-video skill.</a:t>
            </a:r>
          </a:p>
        </p:txBody>
      </p:sp>
    </p:spTree>
  </p:cSld>
  <p:transition spd="med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03 · Video production agent: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production acceptance = passed render checks /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video-handoff.json references approved claims and master hash.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Independent review agent: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Inspect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Score rubric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Request decision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master_hash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rubric_version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findings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qa_status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same agent that created the video self-approves its output.</a:t>
            </a:r>
          </a:p>
        </p:txBody>
      </p:sp>
    </p:spTree>
  </p:cSld>
  <p:transition spd="med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Independent review agent: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an independent context and forbid approval authority in the reviewer role.</a:t>
            </a:r>
          </a:p>
        </p:txBody>
      </p:sp>
    </p:spTree>
  </p:cSld>
  <p:transition spd="med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04 · Independent review agent: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weighted review score and unresolved high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review-handoff.json contains timecoded findings and QA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Upload agent: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 approval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Build metadata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Upload private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Record video 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approval_hash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privacy_status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synthetic_media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video_id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video is uploaded publicly or with stale approval.</a:t>
            </a:r>
          </a:p>
        </p:txBody>
      </p:sp>
    </p:spTree>
  </p:cSld>
  <p:transition spd="med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Upload agent: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Default to private and verify the current master hash immediately before upload.</a:t>
            </a:r>
          </a:p>
        </p:txBody>
      </p:sp>
    </p:spTree>
  </p:cSld>
  <p:transition spd="med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05 · Upload agent: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upload reconciliation = one video ID per idempotency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upload-receipt.json records privacy, disclosure and returned video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Delegation context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Package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Dispatch child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Receive 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 artifact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goal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acceptance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subagent starts fresh and lacks the files, constraints or error state it needs.</a:t>
            </a:r>
          </a:p>
        </p:txBody>
      </p:sp>
    </p:spTree>
  </p:cSld>
  <p:transition spd="med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Delegation context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Include exact paths, inputs, constraints and tests in every delegation context.</a:t>
            </a:r>
          </a:p>
        </p:txBody>
      </p:sp>
    </p:spTree>
  </p:cSld>
  <p:transition spd="med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06 · Delegation context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handoff pass rate = accepted handoffs / handoffs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delegation-log.json records prompt, agent and verified result.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Parallel work and join: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149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Find independent tasks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Dispatch batch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Track results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Join after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task_ids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dependencies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result_refs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join_status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Parallel agents race on shared files or a join proceeds with missing output.</a:t>
            </a:r>
          </a:p>
        </p:txBody>
      </p:sp>
    </p:spTree>
  </p:cSld>
  <p:transition spd="med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Parallel work and join: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Parallelize only independent work and join on explicit verified artifacts.</a:t>
            </a:r>
          </a:p>
        </p:txBody>
      </p:sp>
    </p:spTree>
  </p:cSld>
  <p:transition spd="med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07 · Parallel work and join: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elapsed reduction with zero skipped dependencies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join-ledger.json shows all required parents complete.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Durable Hermes Kanban: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tasks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Assign profiles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Link dependencies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Run dispatcher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task_id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assignee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parent_ids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An in-process agent swarm loses state when a session ends.</a:t>
            </a:r>
          </a:p>
        </p:txBody>
      </p:sp>
    </p:spTree>
  </p:cSld>
  <p:transition spd="med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Durable Hermes Kanban: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Use Kanban for cross-agent work that must survive restarts and human pauses.</a:t>
            </a:r>
          </a:p>
        </p:txBody>
      </p:sp>
    </p:spTree>
  </p:cSld>
  <p:transition spd="med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08 · Durable Hermes Kanban: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flow time = done_at - created_at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kanban-export.json shows the full dependency chain and statuses.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Kanban status and circuit breaker: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Move to 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Run worker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Request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Block or complete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attempt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failure_class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reviewer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failing task retries indefinitely or is marked done from a commit alone.</a:t>
            </a:r>
          </a:p>
        </p:txBody>
      </p:sp>
    </p:spTree>
  </p:cSld>
  <p:transition spd="med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Kanban status and circuit breaker: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Cap attempts, require contract verification and block repeated failures for intervention.</a:t>
            </a:r>
          </a:p>
        </p:txBody>
      </p:sp>
    </p:spTree>
  </p:cSld>
  <p:transition spd="med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09 · Kanban status and circuit breaker: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retry recovery and repeated-failure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task history shows checkpoints, review and final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Human approval with payload hash: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Freeze package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Compute hash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Request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Recheck before upload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approval_id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payload_hash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decision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reviewer approves one version and the upload agent sends another.</a:t>
            </a:r>
          </a:p>
        </p:txBody>
      </p:sp>
    </p:spTree>
  </p:cSld>
  <p:transition spd="med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Human approval with payload hash: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159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Bind the named decision to the immutable release package hash.</a:t>
            </a:r>
          </a:p>
        </p:txBody>
      </p:sp>
    </p:spTree>
  </p:cSld>
  <p:transition spd="med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10 · Human approval with payload hash: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approval integrity = approved hash equals current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approval-ledger.json proves reviewer, time, decision and hash.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YouTube videos.insert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Authorize OAuth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snippet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Set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Upload media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snippet.title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status.privacyStatus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status.containsSyntheticMedia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media_path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The wrong account, privacy state or disclosure reaches YouTube.</a:t>
            </a:r>
          </a:p>
        </p:txBody>
      </p:sp>
    </p:spTree>
  </p:cSld>
  <p:transition spd="med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YouTube videos.insert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Confirm channel identity, default private and include applicable synthetic-media disclosure.</a:t>
            </a:r>
          </a:p>
        </p:txBody>
      </p:sp>
    </p:spTree>
  </p:cSld>
  <p:transition spd="med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11 · YouTube videos.insert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metadata completeness and processing success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request-preview.json and private upload receipt match the approved package.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Publishing idempotency: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publish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Check prior result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Attempt upload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Commit external 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idempotency_key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channel_id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video_id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published_at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timeout hides a successful upload and retry creates a duplicate.</a:t>
            </a:r>
          </a:p>
        </p:txBody>
      </p:sp>
    </p:spTree>
  </p:cSld>
  <p:transition spd="med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Publishing idempotency: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Reconcile the prior key and video ID before any retry.</a:t>
            </a:r>
          </a:p>
        </p:txBody>
      </p:sp>
    </p:spTree>
  </p:cSld>
  <p:transition spd="med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12 · Publishing idempotency: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duplicate publish rate =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publication-ledger.csv contains one committed ID per key.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Hermes cron job contract: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Write self-contained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Attach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Create schedule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Inspect next 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job_name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skills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delivery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cron session starts fresh and lacks the approved brief, paths or account context.</a:t>
            </a:r>
          </a:p>
        </p:txBody>
      </p:sp>
    </p:spTree>
  </p:cSld>
  <p:transition spd="med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Hermes cron job contract: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Put all required paths, gates and stop rules in the job prompt; attach skills explicitly.</a:t>
            </a:r>
          </a:p>
        </p:txBody>
      </p:sp>
    </p:spTree>
  </p:cSld>
  <p:transition spd="med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13 · Hermes cron job contract: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schedule validity and successful dry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cron-preview.json records schedule, next run and paused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Scheduled release operations: execution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07791" y="2743200"/>
            <a:ext cx="530353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13648" y="2743200"/>
            <a:ext cx="530352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4944" y="1901952"/>
            <a:ext cx="2267712" cy="1700784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2084831"/>
            <a:ext cx="438912" cy="43891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Keep job paused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01952"/>
            <a:ext cx="2267712" cy="1700784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12463" y="2084831"/>
            <a:ext cx="438912" cy="43891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2463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Trigger dry run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2267712" cy="1700784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5392" y="2084831"/>
            <a:ext cx="438912" cy="43891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Review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3728" y="1901952"/>
            <a:ext cx="2267712" cy="1700784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19" y="2084831"/>
            <a:ext cx="438912" cy="438912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084831"/>
            <a:ext cx="43891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2697480"/>
            <a:ext cx="1847088" cy="6126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Enable cadence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" y="4005072"/>
            <a:ext cx="7004304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15384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STATE PASSED BETWEEN STAGES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paused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59028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last_run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next_run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5093207"/>
            <a:ext cx="29260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owner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005072"/>
            <a:ext cx="3502152" cy="17830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11312" y="4215384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C93E36"/>
                </a:solidFill>
                <a:latin typeface="Arial"/>
              </a:rPr>
              <a:t>FAILURE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590288"/>
            <a:ext cx="297180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14202C"/>
                </a:solidFill>
                <a:latin typeface="Arial"/>
              </a:rPr>
              <a:t>A recurring job publishes an unreviewed or outdated video automatically.</a:t>
            </a:r>
          </a:p>
        </p:txBody>
      </p:sp>
    </p:spTree>
  </p:cSld>
  <p:transition spd="med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CONTROL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Scheduled release operations: contract and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743200"/>
            <a:ext cx="2084832" cy="0"/>
          </a:xfrm>
          <a:prstGeom prst="line">
            <a:avLst/>
          </a:prstGeom>
          <a:ln w="2794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71231" y="2743200"/>
            <a:ext cx="2075689" cy="0"/>
          </a:xfrm>
          <a:prstGeom prst="line">
            <a:avLst/>
          </a:prstGeom>
          <a:ln w="2794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1616" y="3547872"/>
            <a:ext cx="0" cy="1069848"/>
          </a:xfrm>
          <a:prstGeom prst="line">
            <a:avLst/>
          </a:prstGeom>
          <a:ln w="2794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875C4"/>
                </a:solidFill>
                <a:latin typeface="Arial"/>
              </a:rPr>
              <a:t>INPUT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required keys +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29367"/>
                </a:solidFill>
                <a:latin typeface="Arial"/>
              </a:rPr>
              <a:t>DETERMINISTIC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schema + threshold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938528"/>
            <a:ext cx="29718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2221992"/>
            <a:ext cx="2606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17ABB7"/>
                </a:solidFill>
                <a:latin typeface="Arial"/>
              </a:rPr>
              <a:t>ACCEPTED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670048"/>
            <a:ext cx="26060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evidence + 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4590288"/>
            <a:ext cx="3401568" cy="96012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736592"/>
            <a:ext cx="3017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BLOCK / REPAIR / ESCALATE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87568"/>
            <a:ext cx="109728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Schedule preparation and private upload only; require approval before public visibility.</a:t>
            </a:r>
          </a:p>
        </p:txBody>
      </p:sp>
    </p:spTree>
  </p:cSld>
  <p:transition spd="med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14 · Scheduled release operations: evidence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6858000" cy="18288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92224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58568"/>
            <a:ext cx="63550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on-time success rate with zero unauthorized posts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0688" y="1554480"/>
            <a:ext cx="3730752" cy="182880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1792224"/>
            <a:ext cx="2286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ACCEPTANCE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212848"/>
            <a:ext cx="3246120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14202C"/>
                </a:solidFill>
                <a:latin typeface="Arial"/>
              </a:rPr>
              <a:t>operations-ledger.csv records each run, outcome and owner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875C4"/>
                </a:solidFill>
                <a:latin typeface="Arial"/>
              </a:rPr>
              <a:t>OBSERVED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machine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7ABB7"/>
                </a:solidFill>
                <a:latin typeface="Arial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approved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29367"/>
                </a:solidFill>
                <a:latin typeface="Arial"/>
              </a:rPr>
              <a:t>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PASS /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3877056"/>
            <a:ext cx="2432304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4105656"/>
            <a:ext cx="215798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E09119"/>
                </a:solidFill>
                <a:latin typeface="Arial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4498848"/>
            <a:ext cx="215798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4202C"/>
                </a:solidFill>
                <a:latin typeface="Arial"/>
              </a:rPr>
              <a:t>named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504688"/>
            <a:ext cx="10716768" cy="56692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50992"/>
            <a:ext cx="10287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0D3056"/>
                </a:solidFill>
                <a:latin typeface="Arial"/>
              </a:rPr>
              <a:t>Release principle: evidence travels with the run_id, asset hash and decision—not in a separate chat transcript.</a:t>
            </a:r>
          </a:p>
        </p:txBody>
      </p:sp>
    </p:spTree>
  </p:cSld>
  <p:transition spd="med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Boundary map: agent reasoning versus deterministic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01568" cy="356616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011680"/>
            <a:ext cx="822960" cy="82296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875C4"/>
                </a:solidFill>
                <a:latin typeface="Arial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Interpret ambiguity
Propose creative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45920"/>
            <a:ext cx="3401568" cy="356616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15584" y="2011680"/>
            <a:ext cx="822960" cy="82296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1558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29367"/>
                </a:solidFill>
                <a:latin typeface="Arial"/>
              </a:rPr>
              <a:t>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Validate schema
Measure thresholds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401568" cy="356616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0344" y="2011680"/>
            <a:ext cx="822960" cy="82296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0344" y="201168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63240"/>
            <a:ext cx="294436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E09119"/>
                </a:solidFill>
                <a:latin typeface="Arial"/>
              </a:rPr>
              <a:t>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94176"/>
            <a:ext cx="26700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202C"/>
                </a:solidFill>
                <a:latin typeface="Arial"/>
              </a:rPr>
              <a:t>Approve consequence
Own exception</a:t>
            </a:r>
          </a:p>
        </p:txBody>
      </p:sp>
    </p:spTree>
  </p:cSld>
  <p:transition spd="med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State model: READY, BLOCKED, REPAIR and APPROVED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377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0" y="2926080"/>
            <a:ext cx="1188720" cy="0"/>
          </a:xfrm>
          <a:prstGeom prst="line">
            <a:avLst/>
          </a:prstGeom>
          <a:ln w="25400">
            <a:solidFill>
              <a:srgbClr val="53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194560"/>
            <a:ext cx="1417320" cy="141732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29367"/>
                </a:solidFill>
                <a:latin typeface="Arial"/>
              </a:rPr>
              <a:t>READY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2194560"/>
            <a:ext cx="1417320" cy="1417320"/>
          </a:xfrm>
          <a:prstGeom prst="ellipse">
            <a:avLst/>
          </a:prstGeom>
          <a:solidFill>
            <a:srgbClr val="C9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C93E36"/>
                </a:solidFill>
                <a:latin typeface="Arial"/>
              </a:rPr>
              <a:t>BLOCKED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194560"/>
            <a:ext cx="1417320" cy="1417320"/>
          </a:xfrm>
          <a:prstGeom prst="ellipse">
            <a:avLst/>
          </a:prstGeom>
          <a:solidFill>
            <a:srgbClr val="E0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E09119"/>
                </a:solidFill>
                <a:latin typeface="Arial"/>
              </a:rPr>
              <a:t>REPAIR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194560"/>
            <a:ext cx="1417320" cy="1417320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219456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886200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875C4"/>
                </a:solidFill>
                <a:latin typeface="Arial"/>
              </a:rPr>
              <a:t>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66360"/>
            <a:ext cx="9601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Only APPROVED can cross a consequential publishing boundary.</a:t>
            </a:r>
          </a:p>
        </p:txBody>
      </p:sp>
    </p:spTree>
  </p:cSld>
  <p:transition spd="med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chain: source → asset → approval → external 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7667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65592" y="2907792"/>
            <a:ext cx="795528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912" y="2084831"/>
            <a:ext cx="2304288" cy="1664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source_id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claim 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2084831"/>
            <a:ext cx="2304288" cy="1664208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asset sha256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reviewed bytes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084831"/>
            <a:ext cx="2304288" cy="166420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payload_hash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approved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2084831"/>
            <a:ext cx="2304288" cy="1664208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32304"/>
            <a:ext cx="2011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external_id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990088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536577"/>
                </a:solidFill>
                <a:latin typeface="Arial"/>
              </a:rPr>
              <a:t>platform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0D3056"/>
                </a:solidFill>
                <a:latin typeface="Arial"/>
              </a:rPr>
              <a:t>A release is explainable when every identifier resolves to immutable evidence.</a:t>
            </a:r>
          </a:p>
        </p:txBody>
      </p:sp>
    </p:spTree>
  </p:cSld>
  <p:transition spd="med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SYSTEM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Failure taxonomy: transient, contract, policy and human-decision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36192"/>
            <a:ext cx="2103120" cy="713232"/>
          </a:xfrm>
          <a:prstGeom prst="roundRect">
            <a:avLst/>
          </a:prstGeom>
          <a:solidFill>
            <a:srgbClr val="17ABB7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19072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TRANSIENT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9232" y="1892807"/>
            <a:ext cx="822959" cy="0"/>
          </a:xfrm>
          <a:prstGeom prst="line">
            <a:avLst/>
          </a:prstGeom>
          <a:ln w="25400">
            <a:solidFill>
              <a:srgbClr val="17AB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77056" y="1536192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719072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retry with capped backoff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615184"/>
            <a:ext cx="2103120" cy="713232"/>
          </a:xfrm>
          <a:prstGeom prst="roundRect">
            <a:avLst/>
          </a:prstGeom>
          <a:solidFill>
            <a:srgbClr val="C93E36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980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CONTRACT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99232" y="2971800"/>
            <a:ext cx="822959" cy="0"/>
          </a:xfrm>
          <a:prstGeom prst="line">
            <a:avLst/>
          </a:prstGeom>
          <a:ln w="25400">
            <a:solidFill>
              <a:srgbClr val="C9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77056" y="2615184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798064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repair invalid input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694176"/>
            <a:ext cx="2103120" cy="713232"/>
          </a:xfrm>
          <a:prstGeom prst="roundRect">
            <a:avLst/>
          </a:prstGeom>
          <a:solidFill>
            <a:srgbClr val="E09119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99232" y="4050791"/>
            <a:ext cx="822959" cy="0"/>
          </a:xfrm>
          <a:prstGeom prst="line">
            <a:avLst/>
          </a:prstGeom>
          <a:ln w="25400">
            <a:solidFill>
              <a:srgbClr val="E0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77056" y="3694176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3877056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stop and escalate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73168"/>
            <a:ext cx="2103120" cy="713232"/>
          </a:xfrm>
          <a:prstGeom prst="roundRect">
            <a:avLst/>
          </a:prstGeom>
          <a:solidFill>
            <a:srgbClr val="1875C4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95604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99232" y="5129783"/>
            <a:ext cx="822959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77056" y="4773168"/>
            <a:ext cx="7132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956048"/>
            <a:ext cx="6583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wait for named decision</a:t>
            </a:r>
          </a:p>
        </p:txBody>
      </p:sp>
    </p:spTree>
  </p:cSld>
  <p:transition spd="med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Evidence coverage closes the release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Approval is not the final checkbox; it is the last link in an evidence chain.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Budget control contains retry amplification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Generation dominates unit cost, so retries need deterministic stop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Stage latency reveals the optimisation target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179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Optimise the longest stage only after quality and safety gates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EDITABLE NATIVE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QA score rises after targeted repair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49808" y="1444752"/>
          <a:ext cx="7424927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467344" y="1627632"/>
            <a:ext cx="2907792" cy="395020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192024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8" y="2487168"/>
            <a:ext cx="2359152" cy="1572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Repair should target the failed criterion and trigger a scoped re-test.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0808" y="4608576"/>
            <a:ext cx="23591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4202C"/>
                </a:solidFill>
                <a:latin typeface="Arial"/>
              </a:rPr>
              <a:t>Illustrative synthetic values for mechanism explanation.</a:t>
            </a:r>
          </a:p>
        </p:txBody>
      </p:sp>
    </p:spTree>
  </p:cSld>
  <p:transition spd="med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06 · Build the Multi-Agent Video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Define and simulate four isolated Hermes roles for research, video creation, independent review and approved YouTube upload.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multi-agent-plan.json and four verified handoff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labs/lab-06-build-multi-agent-video-workflow/</a:t>
            </a:r>
          </a:p>
        </p:txBody>
      </p:sp>
    </p:spTree>
  </p:cSld>
  <p:transition spd="med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06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Define role contracts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Package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Delegate research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Delegate production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Request review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Gate uploader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06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All roles have bounded tools and outputs; the reviewer is independent; upload is blocked until all parent evidence and the current approval hash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07 · Orchestrate Kanban Review and YouTube Upload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a durable Hermes Kanban dependency chain, review the approved video, and prepare or execute a private YouTube upload with explicit human authorization.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kanban-export.json, approval-ledger.json and private-upload receipt or dry-run preview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labs/lab-07-orchestrate-kanban-review-and-youtube-upload/</a:t>
            </a:r>
          </a:p>
        </p:txBody>
      </p:sp>
    </p:spTree>
  </p:cSld>
  <p:transition spd="med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07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board tasks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Assign profiles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Link dependencies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Request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Approve exact hash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Upload private</a:t>
            </a:r>
          </a:p>
        </p:txBody>
      </p:sp>
      <p:pic>
        <p:nvPicPr>
          <p:cNvPr id="37" name="Picture 36" descr="human-approval-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5230368"/>
            <a:ext cx="3246120" cy="10058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1248" y="5376672"/>
            <a:ext cx="658368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>
                <a:solidFill>
                  <a:srgbClr val="0D3056"/>
                </a:solidFill>
                <a:latin typeface="Arial"/>
              </a:rPr>
              <a:t>Approval resumes only when the payload hash still matches.</a:t>
            </a:r>
          </a:p>
        </p:txBody>
      </p:sp>
    </p:spTree>
  </p:cSld>
  <p:transition spd="med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07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Kanban graph has no missing dependency; review is required; the request points to the approved master; privacy is private; no credential is present in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LAB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08 · Schedule Controlled Video Publishing with Hermes Cron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6967728" cy="1847088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55648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875C4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76272"/>
            <a:ext cx="63093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0D3056"/>
                </a:solidFill>
                <a:latin typeface="Arial"/>
              </a:rPr>
              <a:t>Create a paused Hermes cron job that prepares a release from a self-contained prompt, dry-run it, and enable a cadence only after evidence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508760"/>
            <a:ext cx="3538728" cy="1847088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75564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EXPECTED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2176272"/>
            <a:ext cx="30175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cron-preview.json and operations-ledger.csv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6784"/>
            <a:ext cx="10378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0D3056"/>
                </a:solidFill>
                <a:latin typeface="Arial"/>
              </a:rPr>
              <a:t>Detailed click paths, prompts, troubleshooting and acceptance checks are in the Learner Guide and lab PDF.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5074920"/>
            <a:ext cx="8092440" cy="640080"/>
          </a:xfrm>
          <a:prstGeom prst="roundRect">
            <a:avLst/>
          </a:prstGeom>
          <a:solidFill>
            <a:srgbClr val="FEF8EC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5212080"/>
            <a:ext cx="7543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4202C"/>
                </a:solidFill>
                <a:latin typeface="Arial"/>
              </a:rPr>
              <a:t>Self-contained folder: labs/lab-08-schedule-controlled-video-publishing/</a:t>
            </a:r>
          </a:p>
        </p:txBody>
      </p:sp>
    </p:spTree>
  </p:cSld>
  <p:transition spd="med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WORKFLOW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08 · Hermes execution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66160" y="2340864"/>
            <a:ext cx="621792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104888" y="2340864"/>
            <a:ext cx="621791" cy="0"/>
          </a:xfrm>
          <a:prstGeom prst="line">
            <a:avLst/>
          </a:prstGeom>
          <a:ln w="25400">
            <a:solidFill>
              <a:srgbClr val="187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566160" y="4352544"/>
            <a:ext cx="621792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04888" y="4352544"/>
            <a:ext cx="621791" cy="0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72016" y="2944368"/>
            <a:ext cx="0" cy="512064"/>
          </a:xfrm>
          <a:prstGeom prst="line">
            <a:avLst/>
          </a:prstGeom>
          <a:ln w="25400">
            <a:solidFill>
              <a:srgbClr val="1293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57276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737360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Write self-contained job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57276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59" y="1737360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Attach video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4696" y="157276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19288" y="1737360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1737360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18288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Create paused cron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584448"/>
            <a:ext cx="2834640" cy="153619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" y="3749039"/>
            <a:ext cx="475488" cy="475488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Trigger dry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584448"/>
            <a:ext cx="2834640" cy="153619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80559" y="3749039"/>
            <a:ext cx="475488" cy="475488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Inspect next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54696" y="3584448"/>
            <a:ext cx="2834640" cy="153619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19288" y="3749039"/>
            <a:ext cx="475488" cy="475488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9288" y="3749039"/>
            <a:ext cx="475488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84048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0D3056"/>
                </a:solidFill>
                <a:latin typeface="Arial"/>
              </a:rPr>
              <a:t>Approve enablement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394960"/>
            <a:ext cx="1005840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0D3056"/>
                </a:solidFill>
                <a:latin typeface="Arial"/>
              </a:rPr>
              <a:t>Each node consumes named keys, emits a status, and leaves retrievable execution evidence.</a:t>
            </a:r>
          </a:p>
        </p:txBody>
      </p:sp>
    </p:spTree>
  </p:cSld>
  <p:transition spd="med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ACCEPTANCE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Lab 08 · evidence and failure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189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6812280" cy="2011680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29367"/>
                </a:solidFill>
                <a:latin typeface="Arial"/>
              </a:rPr>
              <a:t>PASS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6272784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0D3056"/>
                </a:solidFill>
                <a:latin typeface="Arial"/>
              </a:rPr>
              <a:t>The schedule and timezone are explicit, the prompt is self-contained, the custom skill is attached, the job begins paused, and the dry run cannot publish an unapproved or duplicate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481328"/>
            <a:ext cx="3621024" cy="2011680"/>
          </a:xfrm>
          <a:prstGeom prst="roundRect">
            <a:avLst/>
          </a:prstGeom>
          <a:solidFill>
            <a:srgbClr val="FDF1F0"/>
          </a:solidFill>
          <a:ln w="12700">
            <a:solidFill>
              <a:srgbClr val="C93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755648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C93E36"/>
                </a:solidFill>
                <a:latin typeface="Arial"/>
              </a:rPr>
              <a:t>FAIL CLOSED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176272"/>
            <a:ext cx="3090672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4202C"/>
                </a:solidFill>
                <a:latin typeface="Arial"/>
              </a:rPr>
              <a:t>credential appears in JSON; evidence is missing; approval is absent; or the same idempotency key already committed.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copy-ready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1296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data/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synthetic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AI-PROMPTS.pdf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printable prompts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272" y="4069080"/>
            <a:ext cx="2450592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4270248"/>
            <a:ext cx="215798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0D3056"/>
                </a:solidFill>
                <a:latin typeface="Arial"/>
              </a:rPr>
              <a:t>verify.py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4754880"/>
            <a:ext cx="2157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14202C"/>
                </a:solidFill>
                <a:latin typeface="Arial"/>
              </a:rPr>
              <a:t>acceptance check</a:t>
            </a:r>
          </a:p>
        </p:txBody>
      </p:sp>
    </p:spTree>
  </p:cSld>
  <p:transition spd="med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END-TO-END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Course achievement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10808208" cy="987552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187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1719072"/>
            <a:ext cx="530352" cy="530352"/>
          </a:xfrm>
          <a:prstGeom prst="ellipse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19072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709928"/>
            <a:ext cx="94183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D3056"/>
                </a:solidFill>
                <a:latin typeface="Arial"/>
              </a:rPr>
              <a:t>LO1: Develop an editing strategy and work plan in Hermes Agent using MiniMax M3, structured video prompts and governed tool selection.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16936"/>
            <a:ext cx="10808208" cy="987552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17AB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3127248"/>
            <a:ext cx="530352" cy="530352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118104"/>
            <a:ext cx="94183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D3056"/>
                </a:solidFill>
                <a:latin typeface="Arial"/>
              </a:rPr>
              <a:t>LO2: Create and customise an evidence-backed video with Hermes skills, Remotion, Manim, Higgsfield-compatible requests and deterministic media checks.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25112"/>
            <a:ext cx="10808208" cy="987552"/>
          </a:xfrm>
          <a:prstGeom prst="roundRect">
            <a:avLst/>
          </a:prstGeom>
          <a:solidFill>
            <a:srgbClr val="EFFAF5"/>
          </a:solidFill>
          <a:ln w="12700">
            <a:solidFill>
              <a:srgbClr val="1293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535424"/>
            <a:ext cx="530352" cy="530352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35424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526280"/>
            <a:ext cx="94183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0D3056"/>
                </a:solidFill>
                <a:latin typeface="Arial"/>
              </a:rPr>
              <a:t>LO3: Orchestrate research, production, review and YouTube release agents through a durable Kanban board and controlled scheduled publishing.</a:t>
            </a:r>
          </a:p>
        </p:txBody>
      </p:sp>
    </p:spTree>
  </p:cSld>
  <p:transition spd="med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4114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875C4"/>
                </a:solidFill>
                <a:latin typeface="Arial"/>
              </a:rPr>
              <a:t>COURSE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>
                <a:solidFill>
                  <a:srgbClr val="0D3056"/>
                </a:solidFill>
                <a:latin typeface="Arial"/>
              </a:rPr>
              <a:t>Release controls that must remain intact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11155680" cy="22860"/>
          </a:xfrm>
          <a:prstGeom prst="rect">
            <a:avLst/>
          </a:prstGeom>
          <a:solidFill>
            <a:srgbClr val="1875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65392"/>
            <a:ext cx="72237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rial"/>
              </a:rPr>
              <a:t>Agentic AI for Video Creation  •  C436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565392"/>
            <a:ext cx="3337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rial"/>
              </a:rPr>
              <a:t>© Tertiary Infotech Academy Pte Ltd  |  Slide 191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08760"/>
            <a:ext cx="1097280" cy="1097280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08760"/>
            <a:ext cx="10972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1508760"/>
            <a:ext cx="914400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0D3056"/>
                </a:solidFill>
                <a:latin typeface="Arial"/>
              </a:rPr>
              <a:t>Automation is complete only when governance travels with the media.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23744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4202C"/>
                </a:solidFill>
                <a:latin typeface="Arial"/>
              </a:rPr>
              <a:t>Every factual claim resolves to source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523744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47104" y="2770632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27706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688336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Every reviewed asset resolves to an immutable hash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694176"/>
            <a:ext cx="5212080" cy="914400"/>
          </a:xfrm>
          <a:prstGeom prst="roundRect">
            <a:avLst/>
          </a:prstGeom>
          <a:solidFill>
            <a:srgbClr val="EFF7FD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07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Every external release has a named human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694176"/>
            <a:ext cx="5212080" cy="914400"/>
          </a:xfrm>
          <a:prstGeom prst="roundRect">
            <a:avLst/>
          </a:prstGeom>
          <a:solidFill>
            <a:srgbClr val="EDFBFA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3941064"/>
            <a:ext cx="420624" cy="420624"/>
          </a:xfrm>
          <a:prstGeom prst="ellipse">
            <a:avLst/>
          </a:prstGeom>
          <a:solidFill>
            <a:srgbClr val="129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94106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3858768"/>
            <a:ext cx="4352544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4202C"/>
                </a:solidFill>
                <a:latin typeface="Arial"/>
              </a:rPr>
              <a:t>Every platform result is reconciled by idempotency key</a:t>
            </a:r>
          </a:p>
        </p:txBody>
      </p:sp>
    </p:spTree>
  </p:cSld>
  <p:transition spd="med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0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234440"/>
            <a:ext cx="10241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Build video systems that can explain what happened.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523744"/>
            <a:ext cx="102412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>
                <a:solidFill>
                  <a:srgbClr val="17ABB7"/>
                </a:solidFill>
                <a:latin typeface="Arial"/>
              </a:rPr>
              <a:t>Evidence before release  •  Human approval before consequence</a:t>
            </a:r>
          </a:p>
        </p:txBody>
      </p:sp>
      <p:sp>
        <p:nvSpPr>
          <p:cNvPr id="5" name="Oval 4"/>
          <p:cNvSpPr/>
          <p:nvPr/>
        </p:nvSpPr>
        <p:spPr>
          <a:xfrm>
            <a:off x="5376672" y="3474720"/>
            <a:ext cx="1417320" cy="1417320"/>
          </a:xfrm>
          <a:prstGeom prst="ellipse">
            <a:avLst/>
          </a:prstGeom>
          <a:solidFill>
            <a:srgbClr val="17A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6672" y="3474720"/>
            <a:ext cx="1417320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D3056"/>
                </a:solidFill>
                <a:latin typeface="Arial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5239512"/>
            <a:ext cx="9738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Dr Alfred Ang  |  Tertiary Infotech Academy Pte Ltd</a:t>
            </a:r>
          </a:p>
          <a:p>
            <a:r>
              <a:rPr sz="1400" b="0">
                <a:latin typeface="Arial"/>
              </a:rPr>
              <a:t>C436  •  v2.0  •  15 September 2026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Video Creation</dc:title>
  <dc:subject>TGS-2023036088 • MED-MPN-4005-1.1 - Video Editing-4</dc:subject>
  <dc:creator>Tertiary Infotech Academy Pte Ltd</dc:creator>
  <cp:keywords/>
  <dc:description>Highly visual mechanism-led WSQ courseware; detailed procedures are in the Learner Guide and lab PDFs.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